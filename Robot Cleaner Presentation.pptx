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3" r:id="rId9"/>
    <p:sldId id="271" r:id="rId10"/>
    <p:sldId id="264" r:id="rId11"/>
    <p:sldId id="272" r:id="rId12"/>
    <p:sldId id="273" r:id="rId13"/>
    <p:sldId id="265" r:id="rId14"/>
    <p:sldId id="266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5"/>
  </p:normalViewPr>
  <p:slideViewPr>
    <p:cSldViewPr snapToGrid="0" snapToObjects="1">
      <p:cViewPr varScale="1">
        <p:scale>
          <a:sx n="95" d="100"/>
          <a:sy n="95" d="100"/>
        </p:scale>
        <p:origin x="1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1E90C0-733E-C05E-7A41-1810D14C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D6A23A7-8B86-C5B5-8E95-1F53DB4A4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84AF60-38F2-2E9D-8159-3B56445B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EA191D6-45E5-D6A0-DCC6-7C9247C3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FE6CEC-C6B0-50D8-16B4-CEA5E97B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949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09365E-412C-6D71-CBDB-6106F75A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F39A42-EFC7-425E-7062-0AD5C72A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9809707-5896-BA05-D0C0-9A3A36AA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81121F-C67A-4266-0558-2613D5CC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B2BA4EF-13AF-6858-225B-39A67E87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1122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0C5950-6BE1-DFD3-4384-E1DEB75F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A73D9B9-824E-69E3-C903-671EEE67D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D3B367-2BC7-D764-6342-BF63ED6A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A77F3C-87A9-BE42-C86C-AF5FB8DA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E47AEB-5247-B332-9602-CEF24123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577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0C1D0A-BF92-34C7-2A12-86B66467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26DF60-DFC3-A55A-1B7E-08CA74539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F72F4C3-1DCE-1836-F01A-6FAD5A8E6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AF60054-F710-B192-7A3B-F9D42A8C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8E7008-BCCD-896D-3BFE-FE52F705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A67003-3D83-D72F-A1E0-9E33FBFC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568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147859-5B25-E40F-BB72-5010809F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CF85A9D-5298-7D99-359D-307DA96BC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A19025B-5D54-6887-775A-DA2CD1F63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227B7B9-29A6-B466-DEFA-BD294B2FF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91B5C60-8BF9-0F07-99BC-6302D1A97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D8E5860-D146-B508-1CB0-4AC21A9C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22DA179-2611-2038-F85B-EF3ED0FB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65F6D7E-F04D-B027-83C6-3C6B6F97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980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2B089E-7D9D-6609-77F4-B6DF9A7D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3CE22F0-6F3B-651E-89C8-9C7468E6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88CADC3-424B-BFF3-8C41-7565A1DB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7986C5B-E9B2-4C45-C1BD-796015ED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353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616E658-F053-3031-9FBE-C10019191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FE8464A-E609-4CB4-8BCF-39F15975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8E4C8C3-2858-FF9C-33ED-09271422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827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35A967-D068-AA7E-13B1-7FAB52A1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2C3B8D4-BA1A-B655-D317-A8CE22D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5624C30-3B91-EBEA-C2EB-C4C52EF30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7B67B58-3D85-BB38-69F3-764A4968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F7615C6-D198-9BB8-59D0-616A9E85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137F747-AFE4-1870-2A07-24485EC9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086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519906-5D93-B5BA-E57D-D7D9AAE5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ED10F08-9565-9DE4-CECE-6678C6E09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4C30B11-F613-3C11-B4E0-C9D03D7BB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B9AB37C-C74C-E745-E8DF-ACF575B5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D24B77-1077-1A7B-775D-0C6B9F9C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99AE857-8A69-2E45-E67C-4067F4FD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909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13FB31-EA8C-3523-9E45-EC01F383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133E8AA-2D38-9A8B-293C-A6A478852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9E0FEB-6922-0CF7-7E85-23F5E0AB5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F0FA2B-628F-8BDC-C18B-1CB98D9E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172353-D56C-FA46-8FE3-D5770847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866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381375B-6F25-C6B4-80DD-F1EE1C4B3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2FC58F5-E259-8731-EFF0-A96811B38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94285A-64BF-68D5-47CF-6F7DA267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B9EFD23-6C6B-C32A-A413-34BD9CCD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9486C1-35D5-7A8A-C2EF-A87640EA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951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DA408C6-0008-4BD6-D973-655D7CB3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AD719C3-2334-A9EB-E778-9DB2E1E5B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E09A279-25F1-E490-AD50-4E412167A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502C9-C40E-A846-8E2E-40399316838C}" type="datetimeFigureOut">
              <a:rPr lang="tr-TR" smtClean="0"/>
              <a:t>3.01.2024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96030E6-061F-322E-AB4E-4B6B98C00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EA8C84-1CF8-0F5D-3CA1-4C1E0174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2EBDA-6328-BA48-9E07-0771ACE0BE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83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7E3561-C5B7-DCD4-FAC7-A439034F5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CLEANER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3DDB5D7-5CB7-F509-2CC6-D97F2452D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sz="1800" b="1" dirty="0">
                <a:effectLst/>
                <a:latin typeface="TimesNewRomanPS"/>
              </a:rPr>
              <a:t>Zehra </a:t>
            </a:r>
            <a:r>
              <a:rPr lang="tr-TR" sz="1800" b="1" dirty="0" err="1">
                <a:effectLst/>
                <a:latin typeface="TimesNewRomanPS"/>
              </a:rPr>
              <a:t>Füreyya</a:t>
            </a:r>
            <a:r>
              <a:rPr lang="tr-TR" sz="1800" b="1" dirty="0">
                <a:effectLst/>
                <a:latin typeface="TimesNewRomanPS"/>
              </a:rPr>
              <a:t> </a:t>
            </a:r>
            <a:r>
              <a:rPr lang="tr-TR" sz="1800" b="1" dirty="0" err="1">
                <a:effectLst/>
                <a:latin typeface="TimesNewRomanPS"/>
              </a:rPr>
              <a:t>Erdoğan</a:t>
            </a:r>
            <a:r>
              <a:rPr lang="tr-TR" sz="1800" b="1" dirty="0">
                <a:effectLst/>
                <a:latin typeface="TimesNewRomanPS"/>
              </a:rPr>
              <a:t> / 122207074</a:t>
            </a:r>
            <a:endParaRPr lang="tr-TR" sz="1800" b="1" dirty="0">
              <a:latin typeface="TimesNewRomanPS"/>
            </a:endParaRPr>
          </a:p>
          <a:p>
            <a:r>
              <a:rPr lang="tr-TR" sz="1800" b="1" dirty="0">
                <a:effectLst/>
                <a:latin typeface="TimesNewRomanPS"/>
              </a:rPr>
              <a:t> Hasan </a:t>
            </a:r>
            <a:r>
              <a:rPr lang="tr-TR" sz="1800" b="1" dirty="0" err="1">
                <a:effectLst/>
                <a:latin typeface="TimesNewRomanPS"/>
              </a:rPr>
              <a:t>Yücel</a:t>
            </a:r>
            <a:endParaRPr lang="tr-TR" sz="1800" b="1" dirty="0">
              <a:latin typeface="TimesNewRomanPS"/>
            </a:endParaRPr>
          </a:p>
          <a:p>
            <a:r>
              <a:rPr lang="tr-TR" sz="1800" b="1" dirty="0">
                <a:effectLst/>
                <a:latin typeface="TimesNewRomanPS"/>
              </a:rPr>
              <a:t>Selin Rabia Kinsiz / 12207037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483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1A0A4A-F03D-36DE-1647-202B517D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PROJECT’S PURPOSE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E131BBA-B074-6446-CFA3-B868A906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project’s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goal</a:t>
            </a:r>
            <a:r>
              <a:rPr lang="tr-TR" dirty="0">
                <a:effectLst/>
                <a:latin typeface="Cambria" panose="02040503050406030204" pitchFamily="18" charset="0"/>
              </a:rPr>
              <a:t> is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create</a:t>
            </a:r>
            <a:r>
              <a:rPr lang="tr-TR" dirty="0">
                <a:effectLst/>
                <a:latin typeface="Cambria" panose="02040503050406030204" pitchFamily="18" charset="0"/>
              </a:rPr>
              <a:t> a robot </a:t>
            </a:r>
            <a:r>
              <a:rPr lang="tr-TR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cleans</a:t>
            </a:r>
            <a:r>
              <a:rPr lang="tr-TR" dirty="0">
                <a:effectLst/>
                <a:latin typeface="Cambria" panose="02040503050406030204" pitchFamily="18" charset="0"/>
              </a:rPr>
              <a:t> an </a:t>
            </a:r>
            <a:r>
              <a:rPr lang="tr-TR" dirty="0" err="1">
                <a:effectLst/>
                <a:latin typeface="Cambria" panose="02040503050406030204" pitchFamily="18" charset="0"/>
              </a:rPr>
              <a:t>area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while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avoiding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hitting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objects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around</a:t>
            </a:r>
            <a:r>
              <a:rPr lang="tr-TR" dirty="0">
                <a:effectLst/>
                <a:latin typeface="Cambria" panose="02040503050406030204" pitchFamily="18" charset="0"/>
              </a:rPr>
              <a:t> it.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robot has an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sensor in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front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makes</a:t>
            </a:r>
            <a:r>
              <a:rPr lang="tr-TR" dirty="0">
                <a:effectLst/>
                <a:latin typeface="Cambria" panose="02040503050406030204" pitchFamily="18" charset="0"/>
              </a:rPr>
              <a:t> it </a:t>
            </a:r>
            <a:r>
              <a:rPr lang="tr-TR" dirty="0" err="1">
                <a:effectLst/>
                <a:latin typeface="Cambria" panose="02040503050406030204" pitchFamily="18" charset="0"/>
              </a:rPr>
              <a:t>collision-free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Thanks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mop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attachment</a:t>
            </a:r>
            <a:r>
              <a:rPr lang="tr-TR" dirty="0">
                <a:effectLst/>
                <a:latin typeface="Cambria" panose="02040503050406030204" pitchFamily="18" charset="0"/>
              </a:rPr>
              <a:t> at </a:t>
            </a:r>
            <a:r>
              <a:rPr lang="tr-TR" dirty="0" err="1">
                <a:effectLst/>
                <a:latin typeface="Cambria" panose="02040503050406030204" pitchFamily="18" charset="0"/>
              </a:rPr>
              <a:t>its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bottom</a:t>
            </a:r>
            <a:r>
              <a:rPr lang="tr-TR" dirty="0">
                <a:effectLst/>
                <a:latin typeface="Cambria" panose="02040503050406030204" pitchFamily="18" charset="0"/>
              </a:rPr>
              <a:t>, it </a:t>
            </a:r>
            <a:r>
              <a:rPr lang="tr-TR" dirty="0" err="1">
                <a:effectLst/>
                <a:latin typeface="Cambria" panose="02040503050406030204" pitchFamily="18" charset="0"/>
              </a:rPr>
              <a:t>avoids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collisions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area</a:t>
            </a:r>
            <a:r>
              <a:rPr lang="tr-TR" dirty="0">
                <a:effectLst/>
                <a:latin typeface="Cambria" panose="02040503050406030204" pitchFamily="18" charset="0"/>
              </a:rPr>
              <a:t> at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same</a:t>
            </a:r>
            <a:r>
              <a:rPr lang="tr-TR" dirty="0">
                <a:effectLst/>
                <a:latin typeface="Cambria" panose="02040503050406030204" pitchFamily="18" charset="0"/>
              </a:rPr>
              <a:t> time. 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041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112F6FA-2A84-5DCB-7BBE-B592F58C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671"/>
            <a:ext cx="10515600" cy="583732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</a:t>
            </a:r>
            <a:r>
              <a:rPr lang="tr-TR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project</a:t>
            </a:r>
            <a:r>
              <a:rPr lang="tr-TR" dirty="0">
                <a:effectLst/>
                <a:latin typeface="Cambria" panose="02040503050406030204" pitchFamily="18" charset="0"/>
              </a:rPr>
              <a:t> is a </a:t>
            </a:r>
            <a:r>
              <a:rPr lang="tr-TR" dirty="0" err="1">
                <a:effectLst/>
                <a:latin typeface="Cambria" panose="02040503050406030204" pitchFamily="18" charset="0"/>
              </a:rPr>
              <a:t>prototype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>
                <a:latin typeface="Cambria" panose="02040503050406030204" pitchFamily="18" charset="0"/>
              </a:rPr>
              <a:t>of </a:t>
            </a:r>
            <a:r>
              <a:rPr lang="tr-TR" dirty="0" err="1">
                <a:effectLst/>
                <a:latin typeface="Cambria" panose="02040503050406030204" pitchFamily="18" charset="0"/>
              </a:rPr>
              <a:t>Automatic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Vacuum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Cleaners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/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It</a:t>
            </a:r>
            <a:r>
              <a:rPr lang="tr-TR" dirty="0">
                <a:effectLst/>
                <a:latin typeface="Cambria" panose="02040503050406030204" pitchFamily="18" charset="0"/>
              </a:rPr>
              <a:t> has </a:t>
            </a:r>
            <a:r>
              <a:rPr lang="tr-TR" dirty="0" err="1">
                <a:effectLst/>
                <a:latin typeface="Cambria" panose="02040503050406030204" pitchFamily="18" charset="0"/>
              </a:rPr>
              <a:t>one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sensor on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front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which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makes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robot </a:t>
            </a:r>
            <a:r>
              <a:rPr lang="tr-TR" dirty="0" err="1">
                <a:effectLst/>
                <a:latin typeface="Cambria" panose="02040503050406030204" pitchFamily="18" charset="0"/>
              </a:rPr>
              <a:t>collision</a:t>
            </a:r>
            <a:r>
              <a:rPr lang="tr-TR" dirty="0">
                <a:effectLst/>
                <a:latin typeface="Cambria" panose="02040503050406030204" pitchFamily="18" charset="0"/>
              </a:rPr>
              <a:t>- </a:t>
            </a:r>
            <a:r>
              <a:rPr lang="tr-TR" dirty="0" err="1">
                <a:effectLst/>
                <a:latin typeface="Cambria" panose="02040503050406030204" pitchFamily="18" charset="0"/>
              </a:rPr>
              <a:t>free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Prior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project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development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considerations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were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given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factors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such</a:t>
            </a:r>
            <a:r>
              <a:rPr lang="tr-TR" dirty="0">
                <a:effectLst/>
                <a:latin typeface="Cambria" panose="02040503050406030204" pitchFamily="18" charset="0"/>
              </a:rPr>
              <a:t> as </a:t>
            </a:r>
            <a:r>
              <a:rPr lang="tr-TR" dirty="0" err="1">
                <a:effectLst/>
                <a:latin typeface="Cambria" panose="02040503050406030204" pitchFamily="18" charset="0"/>
              </a:rPr>
              <a:t>cost-effectiveness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design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simplicity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low</a:t>
            </a:r>
            <a:r>
              <a:rPr lang="tr-TR" dirty="0">
                <a:effectLst/>
                <a:latin typeface="Cambria" panose="02040503050406030204" pitchFamily="18" charset="0"/>
              </a:rPr>
              <a:t>-profile </a:t>
            </a:r>
            <a:r>
              <a:rPr lang="tr-TR" dirty="0" err="1">
                <a:effectLst/>
                <a:latin typeface="Cambria" panose="02040503050406030204" pitchFamily="18" charset="0"/>
              </a:rPr>
              <a:t>construction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aim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was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achieve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something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dirty="0">
                <a:effectLst/>
                <a:latin typeface="Cambria" panose="02040503050406030204" pitchFamily="18" charset="0"/>
              </a:rPr>
              <a:t> is a </a:t>
            </a:r>
            <a:r>
              <a:rPr lang="tr-TR" dirty="0" err="1">
                <a:effectLst/>
                <a:latin typeface="Cambria" panose="02040503050406030204" pitchFamily="18" charset="0"/>
              </a:rPr>
              <a:t>luxury</a:t>
            </a:r>
            <a:r>
              <a:rPr lang="tr-TR" dirty="0">
                <a:effectLst/>
                <a:latin typeface="Cambria" panose="02040503050406030204" pitchFamily="18" charset="0"/>
              </a:rPr>
              <a:t> in a </a:t>
            </a:r>
            <a:r>
              <a:rPr lang="tr-TR" dirty="0" err="1">
                <a:effectLst/>
                <a:latin typeface="Cambria" panose="02040503050406030204" pitchFamily="18" charset="0"/>
              </a:rPr>
              <a:t>simple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way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</a:t>
            </a:r>
            <a:r>
              <a:rPr lang="tr-TR" dirty="0" err="1">
                <a:effectLst/>
                <a:latin typeface="Cambria" panose="02040503050406030204" pitchFamily="18" charset="0"/>
              </a:rPr>
              <a:t>If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these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devices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were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lower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priced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like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aimed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do, </a:t>
            </a:r>
            <a:r>
              <a:rPr lang="tr-TR" dirty="0" err="1">
                <a:effectLst/>
                <a:latin typeface="Cambria" panose="02040503050406030204" pitchFamily="18" charset="0"/>
              </a:rPr>
              <a:t>they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wouldn’t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only</a:t>
            </a:r>
            <a:r>
              <a:rPr lang="tr-TR" dirty="0">
                <a:effectLst/>
                <a:latin typeface="Cambria" panose="02040503050406030204" pitchFamily="18" charset="0"/>
              </a:rPr>
              <a:t> be in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home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environments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dirty="0">
                <a:effectLst/>
                <a:latin typeface="Cambria" panose="02040503050406030204" pitchFamily="18" charset="0"/>
              </a:rPr>
              <a:t>, but </a:t>
            </a:r>
            <a:r>
              <a:rPr lang="tr-TR" dirty="0" err="1">
                <a:effectLst/>
                <a:latin typeface="Cambria" panose="02040503050406030204" pitchFamily="18" charset="0"/>
              </a:rPr>
              <a:t>they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would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also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become</a:t>
            </a:r>
            <a:r>
              <a:rPr lang="tr-TR" dirty="0">
                <a:effectLst/>
                <a:latin typeface="Cambria" panose="02040503050406030204" pitchFamily="18" charset="0"/>
              </a:rPr>
              <a:t> a </a:t>
            </a:r>
            <a:r>
              <a:rPr lang="tr-TR" dirty="0" err="1">
                <a:effectLst/>
                <a:latin typeface="Cambria" panose="02040503050406030204" pitchFamily="18" charset="0"/>
              </a:rPr>
              <a:t>part</a:t>
            </a:r>
            <a:r>
              <a:rPr lang="tr-TR" dirty="0">
                <a:effectLst/>
                <a:latin typeface="Cambria" panose="02040503050406030204" pitchFamily="18" charset="0"/>
              </a:rPr>
              <a:t> of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streets</a:t>
            </a:r>
            <a:r>
              <a:rPr lang="tr-TR" dirty="0">
                <a:effectLst/>
                <a:latin typeface="Cambria" panose="02040503050406030204" pitchFamily="18" charset="0"/>
              </a:rPr>
              <a:t>. Since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population</a:t>
            </a:r>
            <a:r>
              <a:rPr lang="tr-TR" dirty="0">
                <a:effectLst/>
                <a:latin typeface="Cambria" panose="02040503050406030204" pitchFamily="18" charset="0"/>
              </a:rPr>
              <a:t> is </a:t>
            </a:r>
            <a:r>
              <a:rPr lang="tr-TR" dirty="0" err="1">
                <a:effectLst/>
                <a:latin typeface="Cambria" panose="02040503050406030204" pitchFamily="18" charset="0"/>
              </a:rPr>
              <a:t>too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high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manpower</a:t>
            </a:r>
            <a:r>
              <a:rPr lang="tr-TR" dirty="0">
                <a:effectLst/>
                <a:latin typeface="Cambria" panose="02040503050406030204" pitchFamily="18" charset="0"/>
              </a:rPr>
              <a:t> in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service </a:t>
            </a:r>
            <a:r>
              <a:rPr lang="tr-TR" dirty="0" err="1">
                <a:effectLst/>
                <a:latin typeface="Cambria" panose="02040503050406030204" pitchFamily="18" charset="0"/>
              </a:rPr>
              <a:t>industry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becomes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insufficient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every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day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solve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this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endless</a:t>
            </a:r>
            <a:r>
              <a:rPr lang="tr-TR" dirty="0">
                <a:effectLst/>
                <a:latin typeface="Cambria" panose="02040503050406030204" pitchFamily="18" charset="0"/>
              </a:rPr>
              <a:t> problem </a:t>
            </a:r>
            <a:r>
              <a:rPr lang="tr-TR" dirty="0" err="1">
                <a:effectLst/>
                <a:latin typeface="Cambria" panose="02040503050406030204" pitchFamily="18" charset="0"/>
              </a:rPr>
              <a:t>completely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imagine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are</a:t>
            </a:r>
            <a:r>
              <a:rPr lang="tr-TR" dirty="0">
                <a:effectLst/>
                <a:latin typeface="Cambria" panose="02040503050406030204" pitchFamily="18" charset="0"/>
              </a:rPr>
              <a:t> Robot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Cleaners</a:t>
            </a:r>
            <a:r>
              <a:rPr lang="tr-TR" dirty="0">
                <a:effectLst/>
                <a:latin typeface="Cambria" panose="02040503050406030204" pitchFamily="18" charset="0"/>
              </a:rPr>
              <a:t> on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streets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all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time </a:t>
            </a:r>
            <a:r>
              <a:rPr lang="tr-TR" dirty="0" err="1">
                <a:effectLst/>
                <a:latin typeface="Cambria" panose="02040503050406030204" pitchFamily="18" charset="0"/>
              </a:rPr>
              <a:t>without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getting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tired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hungry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or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sleepy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While</a:t>
            </a:r>
            <a:r>
              <a:rPr lang="tr-TR" dirty="0">
                <a:effectLst/>
                <a:latin typeface="Cambria" panose="02040503050406030204" pitchFamily="18" charset="0"/>
              </a:rPr>
              <a:t> it </a:t>
            </a:r>
            <a:r>
              <a:rPr lang="tr-TR" dirty="0" err="1">
                <a:effectLst/>
                <a:latin typeface="Cambria" panose="02040503050406030204" pitchFamily="18" charset="0"/>
              </a:rPr>
              <a:t>reduces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expenses</a:t>
            </a:r>
            <a:r>
              <a:rPr lang="tr-TR" dirty="0">
                <a:effectLst/>
                <a:latin typeface="Cambria" panose="02040503050406030204" pitchFamily="18" charset="0"/>
              </a:rPr>
              <a:t> in </a:t>
            </a:r>
            <a:r>
              <a:rPr lang="tr-TR" dirty="0" err="1">
                <a:effectLst/>
                <a:latin typeface="Cambria" panose="02040503050406030204" pitchFamily="18" charset="0"/>
              </a:rPr>
              <a:t>long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term</a:t>
            </a:r>
            <a:r>
              <a:rPr lang="tr-TR" dirty="0">
                <a:effectLst/>
                <a:latin typeface="Cambria" panose="02040503050406030204" pitchFamily="18" charset="0"/>
              </a:rPr>
              <a:t>, it is </a:t>
            </a:r>
            <a:r>
              <a:rPr lang="tr-TR" dirty="0" err="1">
                <a:effectLst/>
                <a:latin typeface="Cambria" panose="02040503050406030204" pitchFamily="18" charset="0"/>
              </a:rPr>
              <a:t>also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efficient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than</a:t>
            </a:r>
            <a:r>
              <a:rPr lang="tr-TR" dirty="0">
                <a:effectLst/>
                <a:latin typeface="Cambria" panose="02040503050406030204" pitchFamily="18" charset="0"/>
              </a:rPr>
              <a:t> a </a:t>
            </a:r>
            <a:r>
              <a:rPr lang="tr-TR" dirty="0" err="1">
                <a:effectLst/>
                <a:latin typeface="Cambria" panose="02040503050406030204" pitchFamily="18" charset="0"/>
              </a:rPr>
              <a:t>human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worker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With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this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power</a:t>
            </a:r>
            <a:r>
              <a:rPr lang="tr-TR" dirty="0">
                <a:effectLst/>
                <a:latin typeface="Cambria" panose="02040503050406030204" pitchFamily="18" charset="0"/>
              </a:rPr>
              <a:t>, not </a:t>
            </a:r>
            <a:r>
              <a:rPr lang="tr-TR" dirty="0" err="1">
                <a:effectLst/>
                <a:latin typeface="Cambria" panose="02040503050406030204" pitchFamily="18" charset="0"/>
              </a:rPr>
              <a:t>only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streets</a:t>
            </a:r>
            <a:r>
              <a:rPr lang="tr-TR" dirty="0">
                <a:effectLst/>
                <a:latin typeface="Cambria" panose="02040503050406030204" pitchFamily="18" charset="0"/>
              </a:rPr>
              <a:t>, but </a:t>
            </a:r>
            <a:r>
              <a:rPr lang="tr-TR" dirty="0" err="1">
                <a:effectLst/>
                <a:latin typeface="Cambria" panose="02040503050406030204" pitchFamily="18" charset="0"/>
              </a:rPr>
              <a:t>also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world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would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become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cleaner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endParaRPr lang="tr-TR" dirty="0"/>
          </a:p>
          <a:p>
            <a:pPr marL="0" indent="0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972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013F32-9396-15CD-B6A5-6E86977B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24A5BA-5ECF-BA7B-E389-71914C03D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</a:t>
            </a:r>
            <a:r>
              <a:rPr lang="tr-TR" dirty="0" err="1">
                <a:effectLst/>
                <a:latin typeface="Cambria" panose="02040503050406030204" pitchFamily="18" charset="0"/>
              </a:rPr>
              <a:t>Hence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Robot </a:t>
            </a:r>
            <a:r>
              <a:rPr lang="tr-TR" dirty="0" err="1">
                <a:effectLst/>
                <a:latin typeface="Cambria" panose="02040503050406030204" pitchFamily="18" charset="0"/>
              </a:rPr>
              <a:t>Cleaner</a:t>
            </a:r>
            <a:r>
              <a:rPr lang="tr-TR" dirty="0">
                <a:effectLst/>
                <a:latin typeface="Cambria" panose="02040503050406030204" pitchFamily="18" charset="0"/>
              </a:rPr>
              <a:t> is </a:t>
            </a:r>
            <a:r>
              <a:rPr lang="tr-TR" dirty="0" err="1">
                <a:effectLst/>
                <a:latin typeface="Cambria" panose="02040503050406030204" pitchFamily="18" charset="0"/>
              </a:rPr>
              <a:t>simple</a:t>
            </a:r>
            <a:r>
              <a:rPr lang="tr-TR" dirty="0">
                <a:effectLst/>
                <a:latin typeface="Cambria" panose="02040503050406030204" pitchFamily="18" charset="0"/>
              </a:rPr>
              <a:t> yet </a:t>
            </a:r>
            <a:r>
              <a:rPr lang="tr-TR" dirty="0" err="1">
                <a:effectLst/>
                <a:latin typeface="Cambria" panose="02040503050406030204" pitchFamily="18" charset="0"/>
              </a:rPr>
              <a:t>useful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solution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benefits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environmental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considerations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By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addressing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significant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problems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such</a:t>
            </a:r>
            <a:r>
              <a:rPr lang="tr-TR" dirty="0">
                <a:effectLst/>
                <a:latin typeface="Cambria" panose="02040503050406030204" pitchFamily="18" charset="0"/>
              </a:rPr>
              <a:t> as </a:t>
            </a:r>
            <a:r>
              <a:rPr lang="tr-TR" dirty="0" err="1">
                <a:effectLst/>
                <a:latin typeface="Cambria" panose="02040503050406030204" pitchFamily="18" charset="0"/>
              </a:rPr>
              <a:t>environmental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pollution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with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simplest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solutions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we</a:t>
            </a:r>
            <a:r>
              <a:rPr lang="tr-TR" dirty="0">
                <a:effectLst/>
                <a:latin typeface="Cambria" panose="02040503050406030204" pitchFamily="18" charset="0"/>
              </a:rPr>
              <a:t> not </a:t>
            </a:r>
            <a:r>
              <a:rPr lang="tr-TR" dirty="0" err="1">
                <a:effectLst/>
                <a:latin typeface="Cambria" panose="02040503050406030204" pitchFamily="18" charset="0"/>
              </a:rPr>
              <a:t>only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save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recourses</a:t>
            </a:r>
            <a:r>
              <a:rPr lang="tr-TR" dirty="0">
                <a:effectLst/>
                <a:latin typeface="Cambria" panose="02040503050406030204" pitchFamily="18" charset="0"/>
              </a:rPr>
              <a:t> but </a:t>
            </a:r>
            <a:r>
              <a:rPr lang="tr-TR" dirty="0" err="1">
                <a:effectLst/>
                <a:latin typeface="Cambria" panose="02040503050406030204" pitchFamily="18" charset="0"/>
              </a:rPr>
              <a:t>also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prepare</a:t>
            </a:r>
            <a:r>
              <a:rPr lang="tr-TR" dirty="0">
                <a:effectLst/>
                <a:latin typeface="Cambria" panose="02040503050406030204" pitchFamily="18" charset="0"/>
              </a:rPr>
              <a:t> a </a:t>
            </a:r>
            <a:r>
              <a:rPr lang="tr-TR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sustainable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future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for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next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generations</a:t>
            </a:r>
            <a:r>
              <a:rPr lang="tr-TR" dirty="0">
                <a:effectLst/>
                <a:latin typeface="Cambria" panose="02040503050406030204" pitchFamily="18" charset="0"/>
              </a:rPr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282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8547CC-5D80-2538-F063-066B87D3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dirty="0">
                <a:effectLst/>
                <a:latin typeface="Cambria" panose="02040503050406030204" pitchFamily="18" charset="0"/>
              </a:rPr>
            </a:br>
            <a:r>
              <a:rPr lang="tr-TR" dirty="0">
                <a:effectLst/>
                <a:latin typeface="Cambria" panose="02040503050406030204" pitchFamily="18" charset="0"/>
              </a:rPr>
              <a:t>Experiment Set-</a:t>
            </a:r>
            <a:r>
              <a:rPr lang="tr-TR" dirty="0" err="1">
                <a:effectLst/>
                <a:latin typeface="Cambria" panose="02040503050406030204" pitchFamily="18" charset="0"/>
              </a:rPr>
              <a:t>Up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488F30-6400-A547-6CE1-5FE73CF46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4125" cy="431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>
                <a:effectLst/>
                <a:latin typeface="TimesNewRomanPSMT"/>
              </a:rPr>
              <a:t>a) HC-SR04 </a:t>
            </a:r>
            <a:r>
              <a:rPr lang="tr-TR" b="1" dirty="0" err="1">
                <a:effectLst/>
                <a:latin typeface="TimesNewRomanPSMT"/>
              </a:rPr>
              <a:t>Ultrasonic</a:t>
            </a:r>
            <a:r>
              <a:rPr lang="tr-TR" b="1" dirty="0">
                <a:effectLst/>
                <a:latin typeface="TimesNewRomanPSMT"/>
              </a:rPr>
              <a:t> Sensor </a:t>
            </a:r>
            <a:endParaRPr lang="tr-TR" b="1" dirty="0"/>
          </a:p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An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sensor </a:t>
            </a:r>
            <a:r>
              <a:rPr lang="tr-TR" dirty="0" err="1">
                <a:effectLst/>
                <a:latin typeface="Cambria" panose="02040503050406030204" pitchFamily="18" charset="0"/>
              </a:rPr>
              <a:t>measures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distance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using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sound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waves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which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are</a:t>
            </a:r>
            <a:r>
              <a:rPr lang="tr-TR" dirty="0">
                <a:effectLst/>
                <a:latin typeface="Cambria" panose="02040503050406030204" pitchFamily="18" charset="0"/>
              </a:rPr>
              <a:t> at a </a:t>
            </a:r>
            <a:r>
              <a:rPr lang="tr-TR" dirty="0" err="1">
                <a:effectLst/>
                <a:latin typeface="Cambria" panose="02040503050406030204" pitchFamily="18" charset="0"/>
              </a:rPr>
              <a:t>frequency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above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range</a:t>
            </a:r>
            <a:r>
              <a:rPr lang="tr-TR" dirty="0">
                <a:effectLst/>
                <a:latin typeface="Cambria" panose="02040503050406030204" pitchFamily="18" charset="0"/>
              </a:rPr>
              <a:t> of </a:t>
            </a:r>
            <a:r>
              <a:rPr lang="tr-TR" dirty="0" err="1">
                <a:effectLst/>
                <a:latin typeface="Cambria" panose="02040503050406030204" pitchFamily="18" charset="0"/>
              </a:rPr>
              <a:t>human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hearing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sensor </a:t>
            </a:r>
            <a:r>
              <a:rPr lang="tr-TR" dirty="0" err="1">
                <a:effectLst/>
                <a:latin typeface="Cambria" panose="02040503050406030204" pitchFamily="18" charset="0"/>
              </a:rPr>
              <a:t>determines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distance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a </a:t>
            </a:r>
            <a:r>
              <a:rPr lang="tr-TR" dirty="0" err="1">
                <a:effectLst/>
                <a:latin typeface="Cambria" panose="02040503050406030204" pitchFamily="18" charset="0"/>
              </a:rPr>
              <a:t>target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measuring</a:t>
            </a:r>
            <a:r>
              <a:rPr lang="tr-TR" dirty="0">
                <a:effectLst/>
                <a:latin typeface="Cambria" panose="02040503050406030204" pitchFamily="18" charset="0"/>
              </a:rPr>
              <a:t> time </a:t>
            </a:r>
            <a:r>
              <a:rPr lang="tr-TR" dirty="0" err="1">
                <a:effectLst/>
                <a:latin typeface="Cambria" panose="02040503050406030204" pitchFamily="18" charset="0"/>
              </a:rPr>
              <a:t>lapses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between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sending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receiving</a:t>
            </a:r>
            <a:r>
              <a:rPr lang="tr-TR" dirty="0">
                <a:effectLst/>
                <a:latin typeface="Cambria" panose="02040503050406030204" pitchFamily="18" charset="0"/>
              </a:rPr>
              <a:t> of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pulse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endParaRPr lang="tr-TR" dirty="0"/>
          </a:p>
          <a:p>
            <a:pPr marL="0" indent="0" algn="just">
              <a:buNone/>
            </a:pPr>
            <a:r>
              <a:rPr lang="tr-TR" dirty="0">
                <a:effectLst/>
                <a:latin typeface="Cambria" panose="02040503050406030204" pitchFamily="18" charset="0"/>
              </a:rPr>
              <a:t>	</a:t>
            </a:r>
            <a:r>
              <a:rPr lang="tr-TR" dirty="0" err="1">
                <a:effectLst/>
                <a:latin typeface="Cambria" panose="02040503050406030204" pitchFamily="18" charset="0"/>
              </a:rPr>
              <a:t>For</a:t>
            </a:r>
            <a:r>
              <a:rPr lang="tr-TR" dirty="0">
                <a:effectLst/>
                <a:latin typeface="Cambria" panose="02040503050406030204" pitchFamily="18" charset="0"/>
              </a:rPr>
              <a:t> presence </a:t>
            </a:r>
            <a:r>
              <a:rPr lang="tr-TR" dirty="0" err="1">
                <a:effectLst/>
                <a:latin typeface="Cambria" panose="02040503050406030204" pitchFamily="18" charset="0"/>
              </a:rPr>
              <a:t>detection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ultrasonic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sensors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detect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objects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regardless</a:t>
            </a:r>
            <a:r>
              <a:rPr lang="tr-TR" dirty="0">
                <a:effectLst/>
                <a:latin typeface="Cambria" panose="02040503050406030204" pitchFamily="18" charset="0"/>
              </a:rPr>
              <a:t> of </a:t>
            </a:r>
            <a:r>
              <a:rPr lang="tr-TR" dirty="0" err="1">
                <a:effectLst/>
                <a:latin typeface="Cambria" panose="02040503050406030204" pitchFamily="18" charset="0"/>
              </a:rPr>
              <a:t>color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surface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or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material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r>
              <a:rPr lang="tr-TR" dirty="0" err="1">
                <a:effectLst/>
                <a:latin typeface="Cambria" panose="02040503050406030204" pitchFamily="18" charset="0"/>
              </a:rPr>
              <a:t>However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they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are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insensitive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to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light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dust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smoke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vapor</a:t>
            </a:r>
            <a:r>
              <a:rPr lang="tr-TR" dirty="0">
                <a:effectLst/>
                <a:latin typeface="Cambria" panose="02040503050406030204" pitchFamily="18" charset="0"/>
              </a:rPr>
              <a:t>. </a:t>
            </a:r>
            <a:endParaRPr lang="tr-TR" dirty="0"/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7A52C0E-6CDD-8707-4262-AC62D26339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48" r="11423" b="571"/>
          <a:stretch/>
        </p:blipFill>
        <p:spPr>
          <a:xfrm>
            <a:off x="7172324" y="2397123"/>
            <a:ext cx="4957327" cy="29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1BD045-8BD7-74E5-EB53-A4500887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dirty="0">
                <a:effectLst/>
                <a:latin typeface="Cambria" panose="02040503050406030204" pitchFamily="18" charset="0"/>
              </a:rPr>
            </a:br>
            <a:r>
              <a:rPr lang="tr-TR" dirty="0">
                <a:effectLst/>
                <a:latin typeface="Cambria" panose="02040503050406030204" pitchFamily="18" charset="0"/>
              </a:rPr>
              <a:t>Experiment Set-</a:t>
            </a:r>
            <a:r>
              <a:rPr lang="tr-TR" dirty="0" err="1">
                <a:effectLst/>
                <a:latin typeface="Cambria" panose="02040503050406030204" pitchFamily="18" charset="0"/>
              </a:rPr>
              <a:t>Up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E43D24-8F64-0C6F-BEDC-5C15B97A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7731" cy="4351338"/>
          </a:xfrm>
        </p:spPr>
        <p:txBody>
          <a:bodyPr/>
          <a:lstStyle/>
          <a:p>
            <a:r>
              <a:rPr lang="tr-TR" b="1" dirty="0">
                <a:effectLst/>
                <a:latin typeface="Cambria" panose="02040503050406030204" pitchFamily="18" charset="0"/>
              </a:rPr>
              <a:t>b) </a:t>
            </a:r>
            <a:r>
              <a:rPr lang="tr-TR" b="1" dirty="0" err="1">
                <a:effectLst/>
                <a:latin typeface="TimesNewRomanPSMT"/>
              </a:rPr>
              <a:t>Arduino</a:t>
            </a:r>
            <a:r>
              <a:rPr lang="tr-TR" b="1" dirty="0">
                <a:effectLst/>
                <a:latin typeface="TimesNewRomanPSMT"/>
              </a:rPr>
              <a:t> </a:t>
            </a:r>
            <a:r>
              <a:rPr lang="tr-TR" b="1" dirty="0" err="1">
                <a:effectLst/>
                <a:latin typeface="TimesNewRomanPSMT"/>
              </a:rPr>
              <a:t>Uno</a:t>
            </a:r>
            <a:r>
              <a:rPr lang="tr-TR" b="1" dirty="0">
                <a:effectLst/>
                <a:latin typeface="TimesNewRomanPSMT"/>
              </a:rPr>
              <a:t> R3 </a:t>
            </a:r>
            <a:endParaRPr lang="tr-TR" b="1" dirty="0"/>
          </a:p>
          <a:p>
            <a:pPr marL="0" indent="0">
              <a:buNone/>
            </a:pPr>
            <a:r>
              <a:rPr lang="tr-TR" dirty="0">
                <a:effectLst/>
                <a:latin typeface="TimesNewRomanPSMT"/>
              </a:rPr>
              <a:t>	</a:t>
            </a:r>
            <a:r>
              <a:rPr lang="tr-TR" dirty="0" err="1">
                <a:effectLst/>
                <a:latin typeface="TimesNewRomanPSMT"/>
              </a:rPr>
              <a:t>Arduin</a:t>
            </a:r>
            <a:r>
              <a:rPr lang="tr-TR" dirty="0" err="1">
                <a:latin typeface="TimesNewRomanPSMT"/>
              </a:rPr>
              <a:t>o</a:t>
            </a:r>
            <a:r>
              <a:rPr lang="tr-TR" dirty="0">
                <a:latin typeface="TimesNewRomanPSMT"/>
              </a:rPr>
              <a:t> </a:t>
            </a:r>
            <a:r>
              <a:rPr lang="tr-TR" dirty="0">
                <a:effectLst/>
                <a:latin typeface="TimesNewRomanPSMT"/>
              </a:rPr>
              <a:t>UNO is a </a:t>
            </a:r>
            <a:r>
              <a:rPr lang="tr-TR" dirty="0" err="1">
                <a:effectLst/>
                <a:latin typeface="TimesNewRomanPSMT"/>
              </a:rPr>
              <a:t>microcontroller</a:t>
            </a:r>
            <a:r>
              <a:rPr lang="tr-TR" dirty="0">
                <a:effectLst/>
                <a:latin typeface="TimesNewRomanPSMT"/>
              </a:rPr>
              <a:t> board </a:t>
            </a:r>
            <a:r>
              <a:rPr lang="tr-TR" dirty="0" err="1">
                <a:effectLst/>
                <a:latin typeface="TimesNewRomanPSMT"/>
              </a:rPr>
              <a:t>based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which</a:t>
            </a:r>
            <a:r>
              <a:rPr lang="tr-TR" dirty="0">
                <a:effectLst/>
                <a:latin typeface="TimesNewRomanPSMT"/>
              </a:rPr>
              <a:t> has 14 </a:t>
            </a:r>
            <a:r>
              <a:rPr lang="tr-TR" dirty="0" err="1">
                <a:effectLst/>
                <a:latin typeface="TimesNewRomanPSMT"/>
              </a:rPr>
              <a:t>digital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input</a:t>
            </a:r>
            <a:r>
              <a:rPr lang="tr-TR" dirty="0">
                <a:effectLst/>
                <a:latin typeface="TimesNewRomanPSMT"/>
              </a:rPr>
              <a:t>/</a:t>
            </a:r>
            <a:r>
              <a:rPr lang="tr-TR" dirty="0" err="1">
                <a:effectLst/>
                <a:latin typeface="TimesNewRomanPSMT"/>
              </a:rPr>
              <a:t>output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pins</a:t>
            </a:r>
            <a:r>
              <a:rPr lang="tr-TR" dirty="0">
                <a:effectLst/>
                <a:latin typeface="TimesNewRomanPSMT"/>
              </a:rPr>
              <a:t>, 6 analog </a:t>
            </a:r>
            <a:r>
              <a:rPr lang="tr-TR" dirty="0" err="1">
                <a:effectLst/>
                <a:latin typeface="TimesNewRomanPSMT"/>
              </a:rPr>
              <a:t>inputs</a:t>
            </a:r>
            <a:r>
              <a:rPr lang="tr-TR" dirty="0">
                <a:effectLst/>
                <a:latin typeface="TimesNewRomanPSMT"/>
              </a:rPr>
              <a:t>, a 16 MHz </a:t>
            </a:r>
            <a:r>
              <a:rPr lang="tr-TR" dirty="0" err="1">
                <a:effectLst/>
                <a:latin typeface="TimesNewRomanPSMT"/>
              </a:rPr>
              <a:t>ceramic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resonator</a:t>
            </a:r>
            <a:r>
              <a:rPr lang="tr-TR" dirty="0">
                <a:effectLst/>
                <a:latin typeface="TimesNewRomanPSMT"/>
              </a:rPr>
              <a:t>, a USB </a:t>
            </a:r>
            <a:r>
              <a:rPr lang="tr-TR" dirty="0" err="1">
                <a:effectLst/>
                <a:latin typeface="TimesNewRomanPSMT"/>
              </a:rPr>
              <a:t>connection</a:t>
            </a:r>
            <a:r>
              <a:rPr lang="tr-TR" dirty="0">
                <a:effectLst/>
                <a:latin typeface="TimesNewRomanPSMT"/>
              </a:rPr>
              <a:t>, a </a:t>
            </a:r>
            <a:r>
              <a:rPr lang="tr-TR" dirty="0" err="1">
                <a:effectLst/>
                <a:latin typeface="TimesNewRomanPSMT"/>
              </a:rPr>
              <a:t>power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jack</a:t>
            </a:r>
            <a:r>
              <a:rPr lang="tr-TR" dirty="0">
                <a:effectLst/>
                <a:latin typeface="TimesNewRomanPSMT"/>
              </a:rPr>
              <a:t>, an ICSP </a:t>
            </a:r>
            <a:r>
              <a:rPr lang="tr-TR" dirty="0" err="1">
                <a:effectLst/>
                <a:latin typeface="TimesNewRomanPSMT"/>
              </a:rPr>
              <a:t>header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and</a:t>
            </a:r>
            <a:r>
              <a:rPr lang="tr-TR" dirty="0">
                <a:effectLst/>
                <a:latin typeface="TimesNewRomanPSMT"/>
              </a:rPr>
              <a:t> a </a:t>
            </a:r>
            <a:r>
              <a:rPr lang="tr-TR" dirty="0" err="1">
                <a:effectLst/>
                <a:latin typeface="TimesNewRomanPSMT"/>
              </a:rPr>
              <a:t>reset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button</a:t>
            </a:r>
            <a:r>
              <a:rPr lang="tr-TR" dirty="0">
                <a:effectLst/>
                <a:latin typeface="TimesNewRomanPSMT"/>
              </a:rPr>
              <a:t>. </a:t>
            </a:r>
            <a:endParaRPr lang="tr-TR" dirty="0"/>
          </a:p>
          <a:p>
            <a:endParaRPr lang="tr-TR" dirty="0"/>
          </a:p>
        </p:txBody>
      </p:sp>
      <p:pic>
        <p:nvPicPr>
          <p:cNvPr id="6" name="Resim 5" descr="elektronik bileşen, devre bileşeni, elektronik mühendisliği, elektronik donanım içeren bir resim&#10;&#10;Açıklama otomatik olarak oluşturuldu">
            <a:extLst>
              <a:ext uri="{FF2B5EF4-FFF2-40B4-BE49-F238E27FC236}">
                <a16:creationId xmlns:a16="http://schemas.microsoft.com/office/drawing/2014/main" id="{3639F991-183C-3037-77D4-7A2E42C7B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127" y="1825624"/>
            <a:ext cx="4110673" cy="411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8FAD6C-5D28-496C-11B3-17F3D724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dirty="0">
                <a:effectLst/>
                <a:latin typeface="Cambria" panose="02040503050406030204" pitchFamily="18" charset="0"/>
              </a:rPr>
            </a:br>
            <a:r>
              <a:rPr lang="tr-TR" dirty="0">
                <a:effectLst/>
                <a:latin typeface="Cambria" panose="02040503050406030204" pitchFamily="18" charset="0"/>
              </a:rPr>
              <a:t>Experiment Set-</a:t>
            </a:r>
            <a:r>
              <a:rPr lang="tr-TR" dirty="0" err="1">
                <a:effectLst/>
                <a:latin typeface="Cambria" panose="02040503050406030204" pitchFamily="18" charset="0"/>
              </a:rPr>
              <a:t>Up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42EFB2-9B04-49BA-3282-59F8CB43C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8074" cy="4351338"/>
          </a:xfrm>
        </p:spPr>
        <p:txBody>
          <a:bodyPr/>
          <a:lstStyle/>
          <a:p>
            <a:r>
              <a:rPr lang="tr-TR" b="1" dirty="0">
                <a:effectLst/>
                <a:latin typeface="TimesNewRomanPSMT"/>
              </a:rPr>
              <a:t>c) L298N Dual Motor Driver Board </a:t>
            </a:r>
            <a:endParaRPr lang="tr-TR" b="1" dirty="0"/>
          </a:p>
          <a:p>
            <a:pPr marL="0" indent="0">
              <a:buNone/>
            </a:pPr>
            <a:r>
              <a:rPr lang="tr-TR" dirty="0">
                <a:effectLst/>
                <a:latin typeface="TimesNewRomanPSMT"/>
              </a:rPr>
              <a:t>	Motor Driver Board </a:t>
            </a:r>
            <a:r>
              <a:rPr lang="tr-TR" dirty="0" err="1">
                <a:effectLst/>
                <a:latin typeface="TimesNewRomanPSMT"/>
              </a:rPr>
              <a:t>controls</a:t>
            </a:r>
            <a:r>
              <a:rPr lang="tr-TR" dirty="0">
                <a:effectLst/>
                <a:latin typeface="TimesNewRomanPSMT"/>
              </a:rPr>
              <a:t> motor </a:t>
            </a:r>
            <a:r>
              <a:rPr lang="tr-TR" dirty="0" err="1">
                <a:effectLst/>
                <a:latin typeface="TimesNewRomanPSMT"/>
              </a:rPr>
              <a:t>speed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and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rotation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direction</a:t>
            </a:r>
            <a:r>
              <a:rPr lang="tr-TR" dirty="0">
                <a:effectLst/>
                <a:latin typeface="TimesNewRomanPSMT"/>
              </a:rPr>
              <a:t> of </a:t>
            </a:r>
            <a:r>
              <a:rPr lang="tr-TR" dirty="0" err="1">
                <a:effectLst/>
                <a:latin typeface="TimesNewRomanPSMT"/>
              </a:rPr>
              <a:t>two</a:t>
            </a:r>
            <a:r>
              <a:rPr lang="tr-TR" dirty="0">
                <a:effectLst/>
                <a:latin typeface="TimesNewRomanPSMT"/>
              </a:rPr>
              <a:t> DC </a:t>
            </a:r>
            <a:r>
              <a:rPr lang="tr-TR" dirty="0" err="1">
                <a:effectLst/>
                <a:latin typeface="TimesNewRomanPSMT"/>
              </a:rPr>
              <a:t>motors</a:t>
            </a:r>
            <a:r>
              <a:rPr lang="tr-TR" dirty="0">
                <a:effectLst/>
                <a:latin typeface="TimesNewRomanPSMT"/>
              </a:rPr>
              <a:t>.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L298N </a:t>
            </a:r>
            <a:r>
              <a:rPr lang="tr-TR" dirty="0" err="1">
                <a:effectLst/>
                <a:latin typeface="TimesNewRomanPSMT"/>
              </a:rPr>
              <a:t>module</a:t>
            </a:r>
            <a:r>
              <a:rPr lang="tr-TR" dirty="0">
                <a:effectLst/>
                <a:latin typeface="TimesNewRomanPSMT"/>
              </a:rPr>
              <a:t> can be </a:t>
            </a:r>
            <a:r>
              <a:rPr lang="tr-TR" dirty="0" err="1">
                <a:effectLst/>
                <a:latin typeface="TimesNewRomanPSMT"/>
              </a:rPr>
              <a:t>used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with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motors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that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have</a:t>
            </a:r>
            <a:r>
              <a:rPr lang="tr-TR" dirty="0">
                <a:effectLst/>
                <a:latin typeface="TimesNewRomanPSMT"/>
              </a:rPr>
              <a:t> a </a:t>
            </a:r>
            <a:r>
              <a:rPr lang="tr-TR" dirty="0" err="1">
                <a:effectLst/>
                <a:latin typeface="TimesNewRomanPSMT"/>
              </a:rPr>
              <a:t>voltage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between</a:t>
            </a:r>
            <a:r>
              <a:rPr lang="tr-TR" dirty="0">
                <a:effectLst/>
                <a:latin typeface="TimesNewRomanPSMT"/>
              </a:rPr>
              <a:t> 5 </a:t>
            </a:r>
            <a:r>
              <a:rPr lang="tr-TR" dirty="0" err="1">
                <a:effectLst/>
                <a:latin typeface="TimesNewRomanPSMT"/>
              </a:rPr>
              <a:t>and</a:t>
            </a:r>
            <a:r>
              <a:rPr lang="tr-TR" dirty="0">
                <a:effectLst/>
                <a:latin typeface="TimesNewRomanPSMT"/>
              </a:rPr>
              <a:t> 35V DC. </a:t>
            </a:r>
            <a:endParaRPr lang="tr-TR" dirty="0"/>
          </a:p>
          <a:p>
            <a:endParaRPr lang="tr-TR" dirty="0"/>
          </a:p>
        </p:txBody>
      </p:sp>
      <p:pic>
        <p:nvPicPr>
          <p:cNvPr id="5" name="Resim 4" descr="devre bileşeni, devre, pasif devre bileşeni, elektronik bileşen içeren bir resim&#10;&#10;Açıklama otomatik olarak oluşturuldu">
            <a:extLst>
              <a:ext uri="{FF2B5EF4-FFF2-40B4-BE49-F238E27FC236}">
                <a16:creationId xmlns:a16="http://schemas.microsoft.com/office/drawing/2014/main" id="{1BE2AA0D-32BB-9E01-8457-F3E269977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274" y="1690688"/>
            <a:ext cx="4445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7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923527-73A8-756E-E855-8AD58F12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sz="4400" dirty="0">
                <a:effectLst/>
                <a:latin typeface="Cambria" panose="02040503050406030204" pitchFamily="18" charset="0"/>
              </a:rPr>
            </a:br>
            <a:r>
              <a:rPr lang="tr-TR" sz="4400" dirty="0" err="1">
                <a:effectLst/>
                <a:latin typeface="Cambria" panose="02040503050406030204" pitchFamily="18" charset="0"/>
              </a:rPr>
              <a:t>Building</a:t>
            </a:r>
            <a:r>
              <a:rPr lang="tr-TR" sz="4400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</a:rPr>
              <a:t>T</a:t>
            </a:r>
            <a:r>
              <a:rPr lang="tr-TR" sz="4400" dirty="0" err="1">
                <a:effectLst/>
                <a:latin typeface="Cambria" panose="02040503050406030204" pitchFamily="18" charset="0"/>
              </a:rPr>
              <a:t>he</a:t>
            </a:r>
            <a:r>
              <a:rPr lang="tr-TR" sz="4400" dirty="0">
                <a:effectLst/>
                <a:latin typeface="Cambria" panose="02040503050406030204" pitchFamily="18" charset="0"/>
              </a:rPr>
              <a:t> Robot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88D8F6-EB6E-A0FA-8CBC-79D80E12D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>
                <a:latin typeface="SymbolMT"/>
              </a:rPr>
              <a:t>1-</a:t>
            </a:r>
            <a:r>
              <a:rPr lang="tr-TR" dirty="0">
                <a:effectLst/>
                <a:latin typeface="SymbolMT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Firstly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we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fixed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>
                <a:effectLst/>
                <a:latin typeface="TimesNewRomanPSMT"/>
              </a:rPr>
              <a:t>2 DC </a:t>
            </a:r>
            <a:r>
              <a:rPr lang="tr-TR" dirty="0" err="1">
                <a:effectLst/>
                <a:latin typeface="TimesNewRomanPSMT"/>
              </a:rPr>
              <a:t>motors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chassis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with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screws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2- </a:t>
            </a:r>
            <a:r>
              <a:rPr lang="tr-TR" dirty="0" err="1">
                <a:effectLst/>
                <a:latin typeface="TimesNewRomanPSMT"/>
              </a:rPr>
              <a:t>Then</a:t>
            </a:r>
            <a:r>
              <a:rPr lang="tr-TR" dirty="0">
                <a:effectLst/>
                <a:latin typeface="TimesNewRomanPSMT"/>
              </a:rPr>
              <a:t>,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attached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wheels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motors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and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fixed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ball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caster</a:t>
            </a:r>
            <a:r>
              <a:rPr lang="tr-TR" dirty="0">
                <a:effectLst/>
                <a:latin typeface="TimesNewRomanPSMT"/>
              </a:rPr>
              <a:t> at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front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side</a:t>
            </a:r>
            <a:r>
              <a:rPr lang="tr-TR" dirty="0">
                <a:effectLst/>
                <a:latin typeface="TimesNewRomanPSMT"/>
              </a:rPr>
              <a:t> of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chassis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3- </a:t>
            </a:r>
            <a:r>
              <a:rPr lang="tr-TR" dirty="0" err="1">
                <a:effectLst/>
                <a:latin typeface="TimesNewRomanPSMT"/>
              </a:rPr>
              <a:t>After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that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attached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motor </a:t>
            </a:r>
            <a:r>
              <a:rPr lang="tr-TR" dirty="0" err="1">
                <a:effectLst/>
                <a:latin typeface="TimesNewRomanPSMT"/>
              </a:rPr>
              <a:t>driver</a:t>
            </a:r>
            <a:r>
              <a:rPr lang="tr-TR" dirty="0">
                <a:effectLst/>
                <a:latin typeface="TimesNewRomanPSMT"/>
              </a:rPr>
              <a:t> board on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chassis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4-</a:t>
            </a:r>
            <a:r>
              <a:rPr lang="tr-TR" dirty="0">
                <a:effectLst/>
                <a:latin typeface="SymbolMT"/>
              </a:rPr>
              <a:t>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fixed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battery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slot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chassis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5- </a:t>
            </a:r>
            <a:r>
              <a:rPr lang="tr-TR" dirty="0" err="1">
                <a:effectLst/>
                <a:latin typeface="TimesNewRomanPSMT"/>
              </a:rPr>
              <a:t>After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that</a:t>
            </a:r>
            <a:r>
              <a:rPr lang="tr-TR" dirty="0">
                <a:effectLst/>
                <a:latin typeface="TimesNewRomanPSMT"/>
              </a:rPr>
              <a:t>,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fixed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Arduino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Uno</a:t>
            </a:r>
            <a:r>
              <a:rPr lang="tr-TR" dirty="0">
                <a:effectLst/>
                <a:latin typeface="TimesNewRomanPSMT"/>
              </a:rPr>
              <a:t> R3 </a:t>
            </a:r>
            <a:r>
              <a:rPr lang="tr-TR" dirty="0" err="1">
                <a:effectLst/>
                <a:latin typeface="TimesNewRomanPSMT"/>
              </a:rPr>
              <a:t>next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battery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slot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6- </a:t>
            </a:r>
            <a:r>
              <a:rPr lang="tr-TR" dirty="0" err="1">
                <a:effectLst/>
                <a:latin typeface="TimesNewRomanPSMT"/>
              </a:rPr>
              <a:t>After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making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necessary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attachments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with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jumper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cables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fixed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ultrasonic</a:t>
            </a:r>
            <a:r>
              <a:rPr lang="tr-TR" dirty="0">
                <a:effectLst/>
                <a:latin typeface="TimesNewRomanPSMT"/>
              </a:rPr>
              <a:t> sensor </a:t>
            </a:r>
            <a:r>
              <a:rPr lang="tr-TR" dirty="0" err="1">
                <a:effectLst/>
                <a:latin typeface="TimesNewRomanPSMT"/>
              </a:rPr>
              <a:t>to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front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side</a:t>
            </a:r>
            <a:r>
              <a:rPr lang="tr-TR" dirty="0">
                <a:effectLst/>
                <a:latin typeface="TimesNewRomanPSMT"/>
              </a:rPr>
              <a:t> of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chassis</a:t>
            </a:r>
            <a:r>
              <a:rPr lang="tr-TR" dirty="0">
                <a:effectLst/>
                <a:latin typeface="TimesNewRomanPSMT"/>
              </a:rPr>
              <a:t>.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7- </a:t>
            </a:r>
            <a:r>
              <a:rPr lang="tr-TR" dirty="0" err="1">
                <a:effectLst/>
                <a:latin typeface="TimesNewRomanPSMT"/>
              </a:rPr>
              <a:t>Then</a:t>
            </a:r>
            <a:r>
              <a:rPr lang="tr-TR" dirty="0">
                <a:effectLst/>
                <a:latin typeface="TimesNewRomanPSMT"/>
              </a:rPr>
              <a:t>, </a:t>
            </a:r>
            <a:r>
              <a:rPr lang="tr-TR" dirty="0" err="1">
                <a:effectLst/>
                <a:latin typeface="TimesNewRomanPSMT"/>
              </a:rPr>
              <a:t>we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made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the</a:t>
            </a:r>
            <a:r>
              <a:rPr lang="tr-TR" dirty="0">
                <a:effectLst/>
                <a:latin typeface="TimesNewRomanPSMT"/>
              </a:rPr>
              <a:t> </a:t>
            </a:r>
            <a:r>
              <a:rPr lang="tr-TR" dirty="0" err="1">
                <a:effectLst/>
                <a:latin typeface="TimesNewRomanPSMT"/>
              </a:rPr>
              <a:t>connections</a:t>
            </a:r>
            <a:r>
              <a:rPr lang="tr-TR" dirty="0">
                <a:effectLst/>
                <a:latin typeface="TimesNewRomanPSMT"/>
              </a:rPr>
              <a:t> as </a:t>
            </a:r>
            <a:r>
              <a:rPr lang="tr-TR" dirty="0" err="1">
                <a:effectLst/>
                <a:latin typeface="TimesNewRomanPSMT"/>
              </a:rPr>
              <a:t>follows</a:t>
            </a:r>
            <a:r>
              <a:rPr lang="tr-TR" dirty="0">
                <a:effectLst/>
                <a:latin typeface="TimesNewRomanPSMT"/>
              </a:rPr>
              <a:t> (</a:t>
            </a:r>
            <a:r>
              <a:rPr lang="tr-TR" dirty="0" err="1">
                <a:effectLst/>
                <a:latin typeface="TimesNewRomanPSMT"/>
              </a:rPr>
              <a:t>Figure</a:t>
            </a:r>
            <a:r>
              <a:rPr lang="tr-TR" dirty="0">
                <a:effectLst/>
                <a:latin typeface="TimesNewRomanPSMT"/>
              </a:rPr>
              <a:t> 6):</a:t>
            </a:r>
            <a:br>
              <a:rPr lang="tr-TR" dirty="0">
                <a:effectLst/>
                <a:latin typeface="TimesNewRomanPSMT"/>
              </a:rPr>
            </a:br>
            <a:r>
              <a:rPr lang="tr-TR" dirty="0">
                <a:latin typeface="SymbolMT"/>
              </a:rPr>
              <a:t>8- </a:t>
            </a:r>
            <a:r>
              <a:rPr lang="tr-TR" dirty="0" err="1">
                <a:effectLst/>
                <a:latin typeface="Cambria" panose="02040503050406030204" pitchFamily="18" charset="0"/>
              </a:rPr>
              <a:t>Finally</a:t>
            </a:r>
            <a:r>
              <a:rPr lang="tr-TR" dirty="0">
                <a:effectLst/>
                <a:latin typeface="Cambria" panose="02040503050406030204" pitchFamily="18" charset="0"/>
              </a:rPr>
              <a:t>, </a:t>
            </a:r>
            <a:r>
              <a:rPr lang="tr-TR" dirty="0" err="1">
                <a:effectLst/>
                <a:latin typeface="Cambria" panose="02040503050406030204" pitchFamily="18" charset="0"/>
              </a:rPr>
              <a:t>we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made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final </a:t>
            </a:r>
            <a:r>
              <a:rPr lang="tr-TR" dirty="0" err="1">
                <a:effectLst/>
                <a:latin typeface="Cambria" panose="02040503050406030204" pitchFamily="18" charset="0"/>
              </a:rPr>
              <a:t>programme</a:t>
            </a:r>
            <a:r>
              <a:rPr lang="tr-TR" dirty="0">
                <a:effectLst/>
                <a:latin typeface="Cambria" panose="02040503050406030204" pitchFamily="18" charset="0"/>
              </a:rPr>
              <a:t> on </a:t>
            </a:r>
            <a:r>
              <a:rPr lang="tr-TR" dirty="0" err="1">
                <a:effectLst/>
                <a:latin typeface="Cambria" panose="02040503050406030204" pitchFamily="18" charset="0"/>
              </a:rPr>
              <a:t>Arduino</a:t>
            </a:r>
            <a:r>
              <a:rPr lang="tr-TR" dirty="0">
                <a:effectLst/>
                <a:latin typeface="Cambria" panose="02040503050406030204" pitchFamily="18" charset="0"/>
              </a:rPr>
              <a:t> an </a:t>
            </a:r>
            <a:r>
              <a:rPr lang="tr-TR" dirty="0" err="1">
                <a:effectLst/>
                <a:latin typeface="Cambria" panose="02040503050406030204" pitchFamily="18" charset="0"/>
              </a:rPr>
              <a:t>run</a:t>
            </a:r>
            <a:r>
              <a:rPr lang="tr-TR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dirty="0">
                <a:effectLst/>
                <a:latin typeface="Cambria" panose="02040503050406030204" pitchFamily="18" charset="0"/>
              </a:rPr>
              <a:t> robot. 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573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31EC40-90E6-B5D4-684B-E3838C6B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dirty="0" err="1">
                <a:effectLst/>
                <a:latin typeface="Cambria" panose="02040503050406030204" pitchFamily="18" charset="0"/>
              </a:rPr>
              <a:t>Building</a:t>
            </a:r>
            <a:r>
              <a:rPr lang="tr-TR" sz="4400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</a:rPr>
              <a:t>T</a:t>
            </a:r>
            <a:r>
              <a:rPr lang="tr-TR" sz="4400" dirty="0" err="1">
                <a:effectLst/>
                <a:latin typeface="Cambria" panose="02040503050406030204" pitchFamily="18" charset="0"/>
              </a:rPr>
              <a:t>he</a:t>
            </a:r>
            <a:r>
              <a:rPr lang="tr-TR" sz="4400" dirty="0">
                <a:effectLst/>
                <a:latin typeface="Cambria" panose="02040503050406030204" pitchFamily="18" charset="0"/>
              </a:rPr>
              <a:t> Robot</a:t>
            </a:r>
            <a:endParaRPr lang="tr-TR" dirty="0"/>
          </a:p>
        </p:txBody>
      </p:sp>
      <p:pic>
        <p:nvPicPr>
          <p:cNvPr id="5" name="İçerik Yer Tutucusu 4" descr="elektronik donanım, metin, elektronik mühendisliği, elektronik cihaz içeren bir resim&#10;&#10;Açıklama otomatik olarak oluşturuldu">
            <a:extLst>
              <a:ext uri="{FF2B5EF4-FFF2-40B4-BE49-F238E27FC236}">
                <a16:creationId xmlns:a16="http://schemas.microsoft.com/office/drawing/2014/main" id="{A4A3D1C9-E49F-6C7B-89A9-1595E052E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5994" y="1825625"/>
            <a:ext cx="6520011" cy="4351338"/>
          </a:xfrm>
        </p:spPr>
      </p:pic>
    </p:spTree>
    <p:extLst>
      <p:ext uri="{BB962C8B-B14F-4D97-AF65-F5344CB8AC3E}">
        <p14:creationId xmlns:p14="http://schemas.microsoft.com/office/powerpoint/2010/main" val="388554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07C667-6FE8-C9BA-CD9B-61DFE160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dirty="0" err="1">
                <a:effectLst/>
                <a:latin typeface="Cambria" panose="02040503050406030204" pitchFamily="18" charset="0"/>
              </a:rPr>
              <a:t>Building</a:t>
            </a:r>
            <a:r>
              <a:rPr lang="tr-TR" sz="4400" dirty="0">
                <a:effectLst/>
                <a:latin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</a:rPr>
              <a:t>T</a:t>
            </a:r>
            <a:r>
              <a:rPr lang="tr-TR" sz="4400" dirty="0" err="1">
                <a:effectLst/>
                <a:latin typeface="Cambria" panose="02040503050406030204" pitchFamily="18" charset="0"/>
              </a:rPr>
              <a:t>he</a:t>
            </a:r>
            <a:r>
              <a:rPr lang="tr-TR" sz="4400" dirty="0">
                <a:effectLst/>
                <a:latin typeface="Cambria" panose="02040503050406030204" pitchFamily="18" charset="0"/>
              </a:rPr>
              <a:t> Robot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69A6CC-A3D7-4DFE-B2A4-4DDB1D4C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842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tr-TR" sz="1800" dirty="0">
                <a:effectLst/>
                <a:latin typeface="TimesNewRomanPSMT"/>
              </a:rPr>
              <a:t>	</a:t>
            </a:r>
            <a:r>
              <a:rPr lang="tr-TR" sz="2400" dirty="0">
                <a:effectLst/>
                <a:latin typeface="TimesNewRomanPSMT"/>
              </a:rPr>
              <a:t>As </a:t>
            </a:r>
            <a:r>
              <a:rPr lang="tr-TR" sz="2400" dirty="0" err="1">
                <a:effectLst/>
                <a:latin typeface="TimesNewRomanPSMT"/>
              </a:rPr>
              <a:t>shown</a:t>
            </a:r>
            <a:r>
              <a:rPr lang="tr-TR" sz="2400" dirty="0">
                <a:effectLst/>
                <a:latin typeface="TimesNewRomanPSMT"/>
              </a:rPr>
              <a:t> in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Figure</a:t>
            </a:r>
            <a:r>
              <a:rPr lang="tr-TR" sz="2400" dirty="0">
                <a:effectLst/>
                <a:latin typeface="TimesNewRomanPSMT"/>
              </a:rPr>
              <a:t>,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ultrasonic</a:t>
            </a:r>
            <a:r>
              <a:rPr lang="tr-TR" sz="2400" dirty="0">
                <a:effectLst/>
                <a:latin typeface="TimesNewRomanPSMT"/>
              </a:rPr>
              <a:t> sensor </a:t>
            </a:r>
            <a:r>
              <a:rPr lang="tr-TR" sz="2400" dirty="0" err="1">
                <a:effectLst/>
                <a:latin typeface="TimesNewRomanPSMT"/>
              </a:rPr>
              <a:t>sends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data </a:t>
            </a:r>
            <a:r>
              <a:rPr lang="tr-TR" sz="2400" dirty="0" err="1">
                <a:effectLst/>
                <a:latin typeface="TimesNewRomanPSMT"/>
              </a:rPr>
              <a:t>which</a:t>
            </a:r>
            <a:r>
              <a:rPr lang="tr-TR" sz="2400" dirty="0">
                <a:effectLst/>
                <a:latin typeface="TimesNewRomanPSMT"/>
              </a:rPr>
              <a:t> it </a:t>
            </a:r>
            <a:r>
              <a:rPr lang="tr-TR" sz="2400" dirty="0" err="1">
                <a:effectLst/>
                <a:latin typeface="TimesNewRomanPSMT"/>
              </a:rPr>
              <a:t>calculated</a:t>
            </a:r>
            <a:r>
              <a:rPr lang="tr-TR" sz="2400" dirty="0">
                <a:effectLst/>
                <a:latin typeface="TimesNewRomanPSMT"/>
              </a:rPr>
              <a:t> as </a:t>
            </a:r>
            <a:r>
              <a:rPr lang="tr-TR" sz="2400" dirty="0" err="1">
                <a:effectLst/>
                <a:latin typeface="TimesNewRomanPSMT"/>
              </a:rPr>
              <a:t>told</a:t>
            </a:r>
            <a:r>
              <a:rPr lang="tr-TR" sz="2400" dirty="0">
                <a:effectLst/>
                <a:latin typeface="TimesNewRomanPSMT"/>
              </a:rPr>
              <a:t> in </a:t>
            </a:r>
            <a:r>
              <a:rPr lang="tr-TR" sz="2400" dirty="0" err="1">
                <a:effectLst/>
                <a:latin typeface="TimesNewRomanPSMT"/>
              </a:rPr>
              <a:t>methodology</a:t>
            </a:r>
            <a:r>
              <a:rPr lang="tr-TR" sz="2400" dirty="0">
                <a:effectLst/>
                <a:latin typeface="TimesNewRomanPSMT"/>
              </a:rPr>
              <a:t>, </a:t>
            </a:r>
            <a:r>
              <a:rPr lang="tr-TR" sz="2400" dirty="0" err="1">
                <a:effectLst/>
                <a:latin typeface="TimesNewRomanPSMT"/>
              </a:rPr>
              <a:t>sends</a:t>
            </a:r>
            <a:r>
              <a:rPr lang="tr-TR" sz="2400" dirty="0">
                <a:effectLst/>
                <a:latin typeface="TimesNewRomanPSMT"/>
              </a:rPr>
              <a:t> it </a:t>
            </a:r>
            <a:r>
              <a:rPr lang="tr-TR" sz="2400" dirty="0" err="1">
                <a:effectLst/>
                <a:latin typeface="TimesNewRomanPSMT"/>
              </a:rPr>
              <a:t>to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Arduino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Uno</a:t>
            </a:r>
            <a:r>
              <a:rPr lang="tr-TR" sz="2400" dirty="0">
                <a:effectLst/>
                <a:latin typeface="TimesNewRomanPSMT"/>
              </a:rPr>
              <a:t> R3 </a:t>
            </a:r>
            <a:r>
              <a:rPr lang="tr-TR" sz="2400" dirty="0" err="1">
                <a:effectLst/>
                <a:latin typeface="TimesNewRomanPSMT"/>
              </a:rPr>
              <a:t>and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Arduino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manages</a:t>
            </a:r>
            <a:r>
              <a:rPr lang="tr-TR" sz="2400" dirty="0">
                <a:effectLst/>
                <a:latin typeface="TimesNewRomanPSMT"/>
              </a:rPr>
              <a:t> it </a:t>
            </a:r>
            <a:r>
              <a:rPr lang="tr-TR" sz="2400" dirty="0" err="1">
                <a:effectLst/>
                <a:latin typeface="TimesNewRomanPSMT"/>
              </a:rPr>
              <a:t>then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sends</a:t>
            </a:r>
            <a:r>
              <a:rPr lang="tr-TR" sz="2400" dirty="0">
                <a:effectLst/>
                <a:latin typeface="TimesNewRomanPSMT"/>
              </a:rPr>
              <a:t> a </a:t>
            </a:r>
            <a:r>
              <a:rPr lang="tr-TR" sz="2400" dirty="0" err="1">
                <a:effectLst/>
                <a:latin typeface="TimesNewRomanPSMT"/>
              </a:rPr>
              <a:t>default</a:t>
            </a:r>
            <a:r>
              <a:rPr lang="tr-TR" sz="2400" dirty="0">
                <a:effectLst/>
                <a:latin typeface="TimesNewRomanPSMT"/>
              </a:rPr>
              <a:t> data </a:t>
            </a:r>
            <a:r>
              <a:rPr lang="tr-TR" sz="2400" dirty="0" err="1">
                <a:effectLst/>
                <a:latin typeface="TimesNewRomanPSMT"/>
              </a:rPr>
              <a:t>to</a:t>
            </a:r>
            <a:r>
              <a:rPr lang="tr-TR" sz="2400" dirty="0">
                <a:effectLst/>
                <a:latin typeface="TimesNewRomanPSMT"/>
              </a:rPr>
              <a:t> motor </a:t>
            </a:r>
            <a:r>
              <a:rPr lang="tr-TR" sz="2400" dirty="0" err="1">
                <a:effectLst/>
                <a:latin typeface="TimesNewRomanPSMT"/>
              </a:rPr>
              <a:t>driver</a:t>
            </a:r>
            <a:r>
              <a:rPr lang="tr-TR" sz="2400" dirty="0">
                <a:effectLst/>
                <a:latin typeface="TimesNewRomanPSMT"/>
              </a:rPr>
              <a:t> board. </a:t>
            </a:r>
            <a:r>
              <a:rPr lang="tr-TR" sz="2400" dirty="0" err="1">
                <a:effectLst/>
                <a:latin typeface="TimesNewRomanPSMT"/>
              </a:rPr>
              <a:t>After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that</a:t>
            </a:r>
            <a:r>
              <a:rPr lang="tr-TR" sz="2400" dirty="0">
                <a:effectLst/>
                <a:latin typeface="TimesNewRomanPSMT"/>
              </a:rPr>
              <a:t>,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motor </a:t>
            </a:r>
            <a:r>
              <a:rPr lang="tr-TR" sz="2400" dirty="0" err="1">
                <a:effectLst/>
                <a:latin typeface="TimesNewRomanPSMT"/>
              </a:rPr>
              <a:t>driver</a:t>
            </a:r>
            <a:r>
              <a:rPr lang="tr-TR" sz="2400" dirty="0">
                <a:effectLst/>
                <a:latin typeface="TimesNewRomanPSMT"/>
              </a:rPr>
              <a:t> board </a:t>
            </a:r>
            <a:r>
              <a:rPr lang="tr-TR" sz="2400" dirty="0" err="1">
                <a:effectLst/>
                <a:latin typeface="TimesNewRomanPSMT"/>
              </a:rPr>
              <a:t>converts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our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input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to</a:t>
            </a:r>
            <a:r>
              <a:rPr lang="tr-TR" sz="2400" dirty="0">
                <a:effectLst/>
                <a:latin typeface="TimesNewRomanPSMT"/>
              </a:rPr>
              <a:t> a </a:t>
            </a:r>
            <a:r>
              <a:rPr lang="tr-TR" sz="2400" dirty="0" err="1">
                <a:effectLst/>
                <a:latin typeface="TimesNewRomanPSMT"/>
              </a:rPr>
              <a:t>physical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action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and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starts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moving</a:t>
            </a:r>
            <a:r>
              <a:rPr lang="tr-TR" sz="2400" dirty="0">
                <a:effectLst/>
                <a:latin typeface="TimesNewRomanPSMT"/>
              </a:rPr>
              <a:t>. </a:t>
            </a:r>
            <a:r>
              <a:rPr lang="tr-TR" sz="2400" dirty="0" err="1">
                <a:effectLst/>
                <a:latin typeface="TimesNewRomanPSMT"/>
              </a:rPr>
              <a:t>To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illustrate</a:t>
            </a:r>
            <a:r>
              <a:rPr lang="tr-TR" sz="2400" dirty="0">
                <a:effectLst/>
                <a:latin typeface="TimesNewRomanPSMT"/>
              </a:rPr>
              <a:t>, </a:t>
            </a:r>
            <a:r>
              <a:rPr lang="tr-TR" sz="2400" dirty="0" err="1">
                <a:effectLst/>
                <a:latin typeface="TimesNewRomanPSMT"/>
              </a:rPr>
              <a:t>while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robot </a:t>
            </a:r>
            <a:r>
              <a:rPr lang="tr-TR" sz="2400" dirty="0" err="1">
                <a:effectLst/>
                <a:latin typeface="TimesNewRomanPSMT"/>
              </a:rPr>
              <a:t>moves</a:t>
            </a:r>
            <a:r>
              <a:rPr lang="tr-TR" sz="2400" dirty="0">
                <a:effectLst/>
                <a:latin typeface="TimesNewRomanPSMT"/>
              </a:rPr>
              <a:t> it </a:t>
            </a:r>
            <a:r>
              <a:rPr lang="tr-TR" sz="2400" dirty="0" err="1">
                <a:effectLst/>
                <a:latin typeface="TimesNewRomanPSMT"/>
              </a:rPr>
              <a:t>calculates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its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movements</a:t>
            </a:r>
            <a:r>
              <a:rPr lang="tr-TR" sz="2400" dirty="0">
                <a:effectLst/>
                <a:latin typeface="TimesNewRomanPSMT"/>
              </a:rPr>
              <a:t> at </a:t>
            </a:r>
            <a:r>
              <a:rPr lang="tr-TR" sz="2400" dirty="0" err="1">
                <a:effectLst/>
                <a:latin typeface="TimesNewRomanPSMT"/>
              </a:rPr>
              <a:t>every</a:t>
            </a:r>
            <a:r>
              <a:rPr lang="tr-TR" sz="2400" dirty="0">
                <a:effectLst/>
                <a:latin typeface="TimesNewRomanPSMT"/>
              </a:rPr>
              <a:t> step. </a:t>
            </a:r>
            <a:r>
              <a:rPr lang="tr-TR" sz="2400" dirty="0" err="1">
                <a:effectLst/>
                <a:latin typeface="TimesNewRomanPSMT"/>
              </a:rPr>
              <a:t>If</a:t>
            </a:r>
            <a:r>
              <a:rPr lang="tr-TR" sz="2400" dirty="0">
                <a:effectLst/>
                <a:latin typeface="TimesNewRomanPSMT"/>
              </a:rPr>
              <a:t> it </a:t>
            </a:r>
            <a:r>
              <a:rPr lang="tr-TR" sz="2400" dirty="0" err="1">
                <a:effectLst/>
                <a:latin typeface="TimesNewRomanPSMT"/>
              </a:rPr>
              <a:t>doesn’t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come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across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to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any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object</a:t>
            </a:r>
            <a:r>
              <a:rPr lang="tr-TR" sz="2400" dirty="0">
                <a:effectLst/>
                <a:latin typeface="TimesNewRomanPSMT"/>
              </a:rPr>
              <a:t>, it </a:t>
            </a:r>
            <a:r>
              <a:rPr lang="tr-TR" sz="2400" dirty="0" err="1">
                <a:effectLst/>
                <a:latin typeface="TimesNewRomanPSMT"/>
              </a:rPr>
              <a:t>doesn’t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change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its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direction</a:t>
            </a:r>
            <a:r>
              <a:rPr lang="tr-TR" sz="2400" dirty="0">
                <a:effectLst/>
                <a:latin typeface="TimesNewRomanPSMT"/>
              </a:rPr>
              <a:t>. </a:t>
            </a:r>
            <a:r>
              <a:rPr lang="tr-TR" sz="2400" dirty="0" err="1">
                <a:effectLst/>
                <a:latin typeface="TimesNewRomanPSMT"/>
              </a:rPr>
              <a:t>However</a:t>
            </a:r>
            <a:r>
              <a:rPr lang="tr-TR" sz="2400" dirty="0">
                <a:effectLst/>
                <a:latin typeface="TimesNewRomanPSMT"/>
              </a:rPr>
              <a:t>, </a:t>
            </a:r>
            <a:r>
              <a:rPr lang="tr-TR" sz="2400" dirty="0" err="1">
                <a:effectLst/>
                <a:latin typeface="TimesNewRomanPSMT"/>
              </a:rPr>
              <a:t>if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the</a:t>
            </a:r>
            <a:r>
              <a:rPr lang="tr-TR" sz="2400" dirty="0">
                <a:effectLst/>
                <a:latin typeface="TimesNewRomanPSMT"/>
              </a:rPr>
              <a:t> sensor </a:t>
            </a:r>
            <a:r>
              <a:rPr lang="tr-TR" sz="2400" dirty="0" err="1">
                <a:effectLst/>
                <a:latin typeface="TimesNewRomanPSMT"/>
              </a:rPr>
              <a:t>detects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any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object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near</a:t>
            </a:r>
            <a:r>
              <a:rPr lang="tr-TR" sz="2400" dirty="0">
                <a:effectLst/>
                <a:latin typeface="TimesNewRomanPSMT"/>
              </a:rPr>
              <a:t>; robot </a:t>
            </a:r>
            <a:r>
              <a:rPr lang="tr-TR" sz="2400" dirty="0" err="1">
                <a:effectLst/>
                <a:latin typeface="TimesNewRomanPSMT"/>
              </a:rPr>
              <a:t>changes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its</a:t>
            </a:r>
            <a:r>
              <a:rPr lang="tr-TR" sz="2400" dirty="0">
                <a:effectLst/>
                <a:latin typeface="TimesNewRomanPSMT"/>
              </a:rPr>
              <a:t> </a:t>
            </a:r>
            <a:r>
              <a:rPr lang="tr-TR" sz="2400" dirty="0" err="1">
                <a:effectLst/>
                <a:latin typeface="TimesNewRomanPSMT"/>
              </a:rPr>
              <a:t>direction</a:t>
            </a:r>
            <a:r>
              <a:rPr lang="tr-TR" sz="2400" dirty="0">
                <a:effectLst/>
                <a:latin typeface="TimesNewRomanPSMT"/>
              </a:rPr>
              <a:t> as </a:t>
            </a:r>
            <a:r>
              <a:rPr lang="tr-TR" sz="2400" dirty="0" err="1">
                <a:effectLst/>
                <a:latin typeface="TimesNewRomanPSMT"/>
              </a:rPr>
              <a:t>shown</a:t>
            </a:r>
            <a:r>
              <a:rPr lang="tr-TR" sz="2400" dirty="0">
                <a:effectLst/>
                <a:latin typeface="TimesNewRomanPSMT"/>
              </a:rPr>
              <a:t> in </a:t>
            </a:r>
            <a:r>
              <a:rPr lang="tr-TR" sz="2400" dirty="0" err="1">
                <a:effectLst/>
                <a:latin typeface="TimesNewRomanPSMT"/>
              </a:rPr>
              <a:t>Figure</a:t>
            </a:r>
            <a:r>
              <a:rPr lang="tr-TR" sz="2400" dirty="0">
                <a:effectLst/>
                <a:latin typeface="TimesNewRomanPSMT"/>
              </a:rPr>
              <a:t> . </a:t>
            </a:r>
            <a:endParaRPr lang="tr-TR" sz="2400" dirty="0"/>
          </a:p>
          <a:p>
            <a:endParaRPr lang="tr-TR" dirty="0"/>
          </a:p>
        </p:txBody>
      </p:sp>
      <p:pic>
        <p:nvPicPr>
          <p:cNvPr id="5" name="Resim 4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1F757251-E20C-A2A9-9747-612241BE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5" y="1923029"/>
            <a:ext cx="4905375" cy="30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1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4D15E3-5520-459D-8CCD-FBE9637E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sz="1800" b="1" dirty="0">
                <a:effectLst/>
                <a:latin typeface="TimesNewRomanPS"/>
              </a:rPr>
            </a:br>
            <a:r>
              <a:rPr lang="tr-TR" b="1" dirty="0">
                <a:effectLst/>
                <a:latin typeface="TimesNewRomanPS"/>
              </a:rPr>
              <a:t>APPENDIX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78EEFFC-0624-D14B-4D19-AF484EC5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550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567FB0-2A24-4ECC-B30C-A38EC70A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>
                <a:effectLst/>
                <a:latin typeface="TimesNewRomanPS"/>
              </a:rPr>
            </a:br>
            <a:r>
              <a:rPr lang="tr-TR" b="1" dirty="0">
                <a:effectLst/>
                <a:latin typeface="TimesNewRomanPS"/>
              </a:rPr>
              <a:t>APPENDIX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935FC4-7F3D-1ADF-DDCE-BBD3DEBE3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8456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FDE08E-C66E-F37D-C957-BD0E9C83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>
                <a:effectLst/>
                <a:latin typeface="TimesNewRomanPS"/>
              </a:rPr>
            </a:br>
            <a:r>
              <a:rPr lang="tr-TR" b="1" dirty="0">
                <a:effectLst/>
                <a:latin typeface="TimesNewRomanPS"/>
              </a:rPr>
              <a:t>CONCLUSION 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302F22-83CB-64F3-AA22-BA53A2B91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endParaRPr lang="tr-TR" sz="2400" dirty="0">
              <a:effectLst/>
              <a:latin typeface="Cambria" panose="02040503050406030204" pitchFamily="18" charset="0"/>
            </a:endParaRPr>
          </a:p>
          <a:p>
            <a:r>
              <a:rPr lang="tr-TR" sz="2400" dirty="0" err="1">
                <a:effectLst/>
                <a:latin typeface="Cambria" panose="02040503050406030204" pitchFamily="18" charset="0"/>
              </a:rPr>
              <a:t>This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prototype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could</a:t>
            </a:r>
            <a:r>
              <a:rPr lang="tr-TR" sz="2400" dirty="0">
                <a:effectLst/>
                <a:latin typeface="Cambria" panose="02040503050406030204" pitchFamily="18" charset="0"/>
              </a:rPr>
              <a:t> be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improved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with</a:t>
            </a:r>
            <a:r>
              <a:rPr lang="tr-TR" sz="2400" dirty="0">
                <a:effectLst/>
                <a:latin typeface="Cambria" panose="02040503050406030204" pitchFamily="18" charset="0"/>
              </a:rPr>
              <a:t> Bluetooth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module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use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sz="2400" dirty="0">
                <a:effectLst/>
                <a:latin typeface="Cambria" panose="02040503050406030204" pitchFamily="18" charset="0"/>
              </a:rPr>
              <a:t> mobile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phones</a:t>
            </a:r>
            <a:r>
              <a:rPr lang="tr-TR" sz="2400" dirty="0">
                <a:effectLst/>
                <a:latin typeface="Cambria" panose="02040503050406030204" pitchFamily="18" charset="0"/>
              </a:rPr>
              <a:t> as a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remote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control</a:t>
            </a:r>
            <a:r>
              <a:rPr lang="tr-TR" sz="2400" dirty="0">
                <a:effectLst/>
                <a:latin typeface="Cambria" panose="02040503050406030204" pitchFamily="18" charset="0"/>
              </a:rPr>
              <a:t>,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better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cleaning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parts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like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adding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vacuum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system</a:t>
            </a:r>
            <a:r>
              <a:rPr lang="tr-TR" sz="2400" dirty="0">
                <a:effectLst/>
                <a:latin typeface="Cambria" panose="02040503050406030204" pitchFamily="18" charset="0"/>
              </a:rPr>
              <a:t>,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adding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sensors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for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better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movements</a:t>
            </a:r>
            <a:r>
              <a:rPr lang="tr-TR" sz="2400" dirty="0">
                <a:effectLst/>
                <a:latin typeface="Cambria" panose="02040503050406030204" pitchFamily="18" charset="0"/>
              </a:rPr>
              <a:t>,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updating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code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catch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up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with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these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evaluated</a:t>
            </a:r>
            <a:r>
              <a:rPr lang="tr-TR" sz="2400" dirty="0">
                <a:effectLst/>
                <a:latin typeface="Cambria" panose="02040503050406030204" pitchFamily="18" charset="0"/>
              </a:rPr>
              <a:t> </a:t>
            </a:r>
            <a:r>
              <a:rPr lang="tr-TR" sz="2400" dirty="0" err="1">
                <a:effectLst/>
                <a:latin typeface="Cambria" panose="02040503050406030204" pitchFamily="18" charset="0"/>
              </a:rPr>
              <a:t>movements</a:t>
            </a:r>
            <a:r>
              <a:rPr lang="tr-TR" sz="2400" dirty="0">
                <a:effectLst/>
                <a:latin typeface="Cambria" panose="02040503050406030204" pitchFamily="18" charset="0"/>
              </a:rPr>
              <a:t>. </a:t>
            </a:r>
            <a:endParaRPr lang="tr-TR" sz="2400" dirty="0"/>
          </a:p>
          <a:p>
            <a:endParaRPr lang="tr-TR" dirty="0"/>
          </a:p>
        </p:txBody>
      </p:sp>
      <p:pic>
        <p:nvPicPr>
          <p:cNvPr id="5" name="Resim 4" descr="Araba parçası, tekerlek, araba lastiği, telsizle kumanda edilen oyuncak içeren bir resim&#10;&#10;Açıklama otomatik olarak oluşturuldu">
            <a:extLst>
              <a:ext uri="{FF2B5EF4-FFF2-40B4-BE49-F238E27FC236}">
                <a16:creationId xmlns:a16="http://schemas.microsoft.com/office/drawing/2014/main" id="{D88E25AC-A55E-277B-55D1-AC0E09E3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913" y="1235075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1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120C7D-F1F9-715E-5740-C2B69825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FFBB45-C867-6F41-7387-A298CEB1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tr-TR" sz="2800" dirty="0">
                <a:effectLst/>
                <a:latin typeface="Cambria" panose="02040503050406030204" pitchFamily="18" charset="0"/>
              </a:rPr>
              <a:t>	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makes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this</a:t>
            </a:r>
            <a:r>
              <a:rPr lang="tr-TR" sz="2800" dirty="0">
                <a:effectLst/>
                <a:latin typeface="Cambria" panose="02040503050406030204" pitchFamily="18" charset="0"/>
              </a:rPr>
              <a:t> robot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different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than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actual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ones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is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it is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reachable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because</a:t>
            </a:r>
            <a:r>
              <a:rPr lang="tr-TR" sz="2800" dirty="0">
                <a:effectLst/>
                <a:latin typeface="Cambria" panose="02040503050406030204" pitchFamily="18" charset="0"/>
              </a:rPr>
              <a:t> of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its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lack</a:t>
            </a:r>
            <a:r>
              <a:rPr lang="tr-TR" sz="2800" dirty="0">
                <a:effectLst/>
                <a:latin typeface="Cambria" panose="02040503050406030204" pitchFamily="18" charset="0"/>
              </a:rPr>
              <a:t> of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features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as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mentioned</a:t>
            </a:r>
            <a:r>
              <a:rPr lang="tr-TR" sz="2800" dirty="0">
                <a:effectLst/>
                <a:latin typeface="Cambria" panose="02040503050406030204" pitchFamily="18" charset="0"/>
              </a:rPr>
              <a:t>. Since it is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reachable</a:t>
            </a:r>
            <a:r>
              <a:rPr lang="tr-TR" sz="2800" dirty="0">
                <a:effectLst/>
                <a:latin typeface="Cambria" panose="02040503050406030204" pitchFamily="18" charset="0"/>
              </a:rPr>
              <a:t>,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means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more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people</a:t>
            </a:r>
            <a:r>
              <a:rPr lang="tr-TR" sz="2800" dirty="0">
                <a:effectLst/>
                <a:latin typeface="Cambria" panose="02040503050406030204" pitchFamily="18" charset="0"/>
              </a:rPr>
              <a:t> can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use</a:t>
            </a:r>
            <a:r>
              <a:rPr lang="tr-TR" sz="2800" dirty="0">
                <a:effectLst/>
                <a:latin typeface="Cambria" panose="02040503050406030204" pitchFamily="18" charset="0"/>
              </a:rPr>
              <a:t> it.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We</a:t>
            </a:r>
            <a:r>
              <a:rPr lang="tr-TR" sz="2800" dirty="0">
                <a:effectLst/>
                <a:latin typeface="Cambria" panose="02040503050406030204" pitchFamily="18" charset="0"/>
              </a:rPr>
              <a:t> can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have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them</a:t>
            </a:r>
            <a:r>
              <a:rPr lang="tr-TR" sz="2800" dirty="0">
                <a:effectLst/>
                <a:latin typeface="Cambria" panose="02040503050406030204" pitchFamily="18" charset="0"/>
              </a:rPr>
              <a:t> in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streets</a:t>
            </a:r>
            <a:r>
              <a:rPr lang="tr-TR" sz="2800" dirty="0">
                <a:effectLst/>
                <a:latin typeface="Cambria" panose="02040503050406030204" pitchFamily="18" charset="0"/>
              </a:rPr>
              <a:t>,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cleaning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endless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roads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making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environment</a:t>
            </a:r>
            <a:r>
              <a:rPr lang="tr-TR" sz="2800" dirty="0">
                <a:effectLst/>
                <a:latin typeface="Cambria" panose="02040503050406030204" pitchFamily="18" charset="0"/>
              </a:rPr>
              <a:t> lot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cleaner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current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product</a:t>
            </a:r>
            <a:r>
              <a:rPr lang="tr-TR" sz="2800" dirty="0">
                <a:effectLst/>
                <a:latin typeface="Cambria" panose="02040503050406030204" pitchFamily="18" charset="0"/>
              </a:rPr>
              <a:t> has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insufficient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battery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space</a:t>
            </a:r>
            <a:r>
              <a:rPr lang="tr-TR" sz="2800" dirty="0">
                <a:effectLst/>
                <a:latin typeface="Cambria" panose="02040503050406030204" pitchFamily="18" charset="0"/>
              </a:rPr>
              <a:t> since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ones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have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used</a:t>
            </a:r>
            <a:r>
              <a:rPr lang="tr-TR" sz="2800" dirty="0">
                <a:effectLst/>
                <a:latin typeface="Cambria" panose="02040503050406030204" pitchFamily="18" charset="0"/>
              </a:rPr>
              <a:t> has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lower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voltage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than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Lithium-Polymer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batteries</a:t>
            </a:r>
            <a:r>
              <a:rPr lang="tr-TR" sz="2800" dirty="0">
                <a:effectLst/>
                <a:latin typeface="Cambria" panose="02040503050406030204" pitchFamily="18" charset="0"/>
              </a:rPr>
              <a:t>. Using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kind</a:t>
            </a:r>
            <a:r>
              <a:rPr lang="tr-TR" sz="2800" dirty="0">
                <a:effectLst/>
                <a:latin typeface="Cambria" panose="02040503050406030204" pitchFamily="18" charset="0"/>
              </a:rPr>
              <a:t> of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batteries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would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lead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robot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have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longer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run</a:t>
            </a:r>
            <a:r>
              <a:rPr lang="tr-TR" sz="2800" dirty="0">
                <a:effectLst/>
                <a:latin typeface="Cambria" panose="02040503050406030204" pitchFamily="18" charset="0"/>
              </a:rPr>
              <a:t> time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have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less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ecological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footprint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endParaRPr lang="tr-TR" dirty="0"/>
          </a:p>
          <a:p>
            <a:pPr marL="0" indent="0" algn="just">
              <a:buNone/>
            </a:pPr>
            <a:r>
              <a:rPr lang="tr-TR" sz="2800" dirty="0">
                <a:effectLst/>
                <a:latin typeface="Cambria" panose="02040503050406030204" pitchFamily="18" charset="0"/>
              </a:rPr>
              <a:t>	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final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product</a:t>
            </a:r>
            <a:r>
              <a:rPr lang="tr-TR" sz="2800" dirty="0">
                <a:effectLst/>
                <a:latin typeface="Cambria" panose="02040503050406030204" pitchFamily="18" charset="0"/>
              </a:rPr>
              <a:t> is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parallel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objectives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were</a:t>
            </a:r>
            <a:r>
              <a:rPr lang="tr-TR" sz="2800" dirty="0">
                <a:effectLst/>
                <a:latin typeface="Cambria" panose="02040503050406030204" pitchFamily="18" charset="0"/>
              </a:rPr>
              <a:t> set in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beginning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robot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while</a:t>
            </a:r>
            <a:r>
              <a:rPr lang="tr-TR" sz="2800" dirty="0">
                <a:effectLst/>
                <a:latin typeface="Cambria" panose="02040503050406030204" pitchFamily="18" charset="0"/>
              </a:rPr>
              <a:t> it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moves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around</a:t>
            </a:r>
            <a:r>
              <a:rPr lang="tr-TR" sz="2800" dirty="0">
                <a:effectLst/>
                <a:latin typeface="Cambria" panose="02040503050406030204" pitchFamily="18" charset="0"/>
              </a:rPr>
              <a:t>,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cost</a:t>
            </a:r>
            <a:r>
              <a:rPr lang="tr-TR" sz="2800" dirty="0">
                <a:effectLst/>
                <a:latin typeface="Cambria" panose="02040503050406030204" pitchFamily="18" charset="0"/>
              </a:rPr>
              <a:t> of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this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device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couldn’t</a:t>
            </a:r>
            <a:r>
              <a:rPr lang="tr-TR" sz="2800" dirty="0">
                <a:effectLst/>
                <a:latin typeface="Cambria" panose="02040503050406030204" pitchFamily="18" charset="0"/>
              </a:rPr>
              <a:t> be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compared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actual</a:t>
            </a:r>
            <a:r>
              <a:rPr lang="tr-TR" sz="2800" dirty="0">
                <a:effectLst/>
                <a:latin typeface="Cambria" panose="02040503050406030204" pitchFamily="18" charset="0"/>
              </a:rPr>
              <a:t> robot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cleaners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It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does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have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less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features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however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our</a:t>
            </a:r>
            <a:r>
              <a:rPr lang="tr-TR" sz="2800" dirty="0">
                <a:effectLst/>
                <a:latin typeface="Cambria" panose="02040503050406030204" pitchFamily="18" charset="0"/>
              </a:rPr>
              <a:t> robot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cleaner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works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and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its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simplicity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doesn’t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lower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its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capacity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outcome</a:t>
            </a:r>
            <a:r>
              <a:rPr lang="tr-TR" sz="2800" dirty="0">
                <a:effectLst/>
                <a:latin typeface="Cambria" panose="02040503050406030204" pitchFamily="18" charset="0"/>
              </a:rPr>
              <a:t> is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what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were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aiming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to</a:t>
            </a:r>
            <a:r>
              <a:rPr lang="tr-TR" sz="2800" dirty="0">
                <a:effectLst/>
                <a:latin typeface="Cambria" panose="02040503050406030204" pitchFamily="18" charset="0"/>
              </a:rPr>
              <a:t> do in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the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first</a:t>
            </a:r>
            <a:r>
              <a:rPr lang="tr-TR" sz="2800" dirty="0">
                <a:effectLst/>
                <a:latin typeface="Cambria" panose="02040503050406030204" pitchFamily="18" charset="0"/>
              </a:rPr>
              <a:t> </a:t>
            </a:r>
            <a:r>
              <a:rPr lang="tr-TR" sz="2800" dirty="0" err="1">
                <a:effectLst/>
                <a:latin typeface="Cambria" panose="02040503050406030204" pitchFamily="18" charset="0"/>
              </a:rPr>
              <a:t>place</a:t>
            </a:r>
            <a:r>
              <a:rPr lang="tr-TR" sz="2800" dirty="0">
                <a:effectLst/>
                <a:latin typeface="Cambria" panose="02040503050406030204" pitchFamily="18" charset="0"/>
              </a:rPr>
              <a:t>. 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393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969</Words>
  <Application>Microsoft Macintosh PowerPoint</Application>
  <PresentationFormat>Geniş ekran</PresentationFormat>
  <Paragraphs>34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SymbolMT</vt:lpstr>
      <vt:lpstr>Times New Roman</vt:lpstr>
      <vt:lpstr>TimesNewRomanPS</vt:lpstr>
      <vt:lpstr>TimesNewRomanPSMT</vt:lpstr>
      <vt:lpstr>Office Teması</vt:lpstr>
      <vt:lpstr>ROBOT CLEANER</vt:lpstr>
      <vt:lpstr>PROJECT’S PURPOSE</vt:lpstr>
      <vt:lpstr>PowerPoint Sunusu</vt:lpstr>
      <vt:lpstr>PowerPoint Sunusu</vt:lpstr>
      <vt:lpstr> Experiment Set-Up  </vt:lpstr>
      <vt:lpstr> Experiment Set-Up  </vt:lpstr>
      <vt:lpstr> Experiment Set-Up  </vt:lpstr>
      <vt:lpstr> Building The Robot  </vt:lpstr>
      <vt:lpstr>Building The Robot</vt:lpstr>
      <vt:lpstr>Building The Robot</vt:lpstr>
      <vt:lpstr> APPENDIX  </vt:lpstr>
      <vt:lpstr> APPENDIX  </vt:lpstr>
      <vt:lpstr> CONCLUSION  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CLEANER</dc:title>
  <dc:creator>Selin Kinsiz</dc:creator>
  <cp:lastModifiedBy>Selin Kinsiz</cp:lastModifiedBy>
  <cp:revision>1</cp:revision>
  <dcterms:created xsi:type="dcterms:W3CDTF">2024-01-03T11:31:02Z</dcterms:created>
  <dcterms:modified xsi:type="dcterms:W3CDTF">2024-01-03T12:28:36Z</dcterms:modified>
</cp:coreProperties>
</file>